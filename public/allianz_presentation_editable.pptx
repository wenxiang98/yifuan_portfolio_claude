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Winners</c:v>
                </c:pt>
              </c:strCache>
            </c:strRef>
          </c:tx>
          <c:cat>
            <c:strRef>
              <c:f>Sheet1!$A$2:$A$5</c:f>
              <c:strCache>
                <c:ptCount val="4"/>
                <c:pt idx="0">
                  <c:v>Experience10@Badminton 2025</c:v>
                </c:pt>
                <c:pt idx="1">
                  <c:v>Experience10@Meet The Star</c:v>
                </c:pt>
                <c:pt idx="2">
                  <c:v>Experience10@Celebrate Together</c:v>
                </c:pt>
                <c:pt idx="3">
                  <c:v>Together We Celebrate Malaysia</c:v>
                </c:pt>
              </c:strCache>
            </c:strRef>
          </c:cat>
          <c:val>
            <c:numRef>
              <c:f>Sheet1!$B$2:$B$5</c:f>
              <c:numCache>
                <c:formatCode>General</c:formatCode>
                <c:ptCount val="4"/>
                <c:pt idx="0">
                  <c:v>162</c:v>
                </c:pt>
                <c:pt idx="1">
                  <c:v>41</c:v>
                </c:pt>
                <c:pt idx="2">
                  <c:v>39</c:v>
                </c:pt>
                <c:pt idx="3">
                  <c:v>31</c:v>
                </c:pt>
              </c:numCache>
            </c:numRef>
          </c:val>
          <c:dPt>
            <c:idx val="0"/>
            <c:bubble3D val="0"/>
            <c:spPr>
              <a:solidFill>
                <a:srgbClr val="0D1B3E"/>
              </a:solidFill>
            </c:spPr>
          </c:dPt>
          <c:dPt>
            <c:idx val="1"/>
            <c:bubble3D val="0"/>
            <c:spPr>
              <a:solidFill>
                <a:srgbClr val="2E788A"/>
              </a:solidFill>
            </c:spPr>
          </c:dPt>
          <c:dPt>
            <c:idx val="2"/>
            <c:bubble3D val="0"/>
            <c:spPr>
              <a:solidFill>
                <a:srgbClr val="4A7296"/>
              </a:solidFill>
            </c:spPr>
          </c:dPt>
          <c:dPt>
            <c:idx val="3"/>
            <c:bubble3D val="0"/>
            <c:spPr>
              <a:solidFill>
                <a:srgbClr val="1B357E"/>
              </a:solidFill>
            </c:spPr>
          </c:dPt>
        </c:ser>
      </c:pieChart>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Count</c:v>
                </c:pt>
              </c:strCache>
            </c:strRef>
          </c:tx>
          <c:cat>
            <c:strRef>
              <c:f>Sheet1!$A$2:$A$6</c:f>
              <c:strCache>
                <c:ptCount val="5"/>
                <c:pt idx="0">
                  <c:v>A</c:v>
                </c:pt>
                <c:pt idx="1">
                  <c:v>B</c:v>
                </c:pt>
                <c:pt idx="2">
                  <c:v>C</c:v>
                </c:pt>
                <c:pt idx="3">
                  <c:v>D</c:v>
                </c:pt>
                <c:pt idx="4">
                  <c:v>E</c:v>
                </c:pt>
              </c:strCache>
            </c:strRef>
          </c:cat>
          <c:val>
            <c:numRef>
              <c:f>Sheet1!$B$2:$B$6</c:f>
              <c:numCache>
                <c:formatCode>General</c:formatCode>
                <c:ptCount val="5"/>
                <c:pt idx="0">
                  <c:v>208</c:v>
                </c:pt>
                <c:pt idx="1">
                  <c:v>71</c:v>
                </c:pt>
                <c:pt idx="2">
                  <c:v>329</c:v>
                </c:pt>
                <c:pt idx="3">
                  <c:v>5</c:v>
                </c:pt>
                <c:pt idx="4">
                  <c:v>9</c:v>
                </c:pt>
              </c:numCache>
            </c:numRef>
          </c:val>
          <c:spPr>
            <a:solidFill>
              <a:srgbClr val="1B357E"/>
            </a:solidFill>
          </c:spPr>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Campaign Activity</c:v>
                </c:pt>
              </c:strCache>
            </c:strRef>
          </c:tx>
          <c:cat>
            <c:strRef>
              <c:f>Sheet1!$A$2:$A$17</c:f>
              <c:strCache>
                <c:ptCount val="16"/>
                <c:pt idx="0">
                  <c:v>11/8</c:v>
                </c:pt>
                <c:pt idx="1">
                  <c:v>11/10</c:v>
                </c:pt>
                <c:pt idx="2">
                  <c:v>11/12</c:v>
                </c:pt>
                <c:pt idx="3">
                  <c:v>11/14</c:v>
                </c:pt>
                <c:pt idx="4">
                  <c:v>11/16</c:v>
                </c:pt>
                <c:pt idx="5">
                  <c:v>11/18</c:v>
                </c:pt>
                <c:pt idx="6">
                  <c:v>11/20</c:v>
                </c:pt>
                <c:pt idx="7">
                  <c:v>11/22</c:v>
                </c:pt>
                <c:pt idx="8">
                  <c:v>11/24</c:v>
                </c:pt>
                <c:pt idx="9">
                  <c:v>11/26</c:v>
                </c:pt>
                <c:pt idx="10">
                  <c:v>11/28</c:v>
                </c:pt>
                <c:pt idx="11">
                  <c:v>11/30</c:v>
                </c:pt>
                <c:pt idx="12">
                  <c:v>12/2</c:v>
                </c:pt>
                <c:pt idx="13">
                  <c:v>12/4</c:v>
                </c:pt>
                <c:pt idx="14">
                  <c:v>12/6</c:v>
                </c:pt>
                <c:pt idx="15">
                  <c:v>12/8</c:v>
                </c:pt>
              </c:strCache>
            </c:strRef>
          </c:cat>
          <c:val>
            <c:numRef>
              <c:f>Sheet1!$B$2:$B$17</c:f>
              <c:numCache>
                <c:formatCode>General</c:formatCode>
                <c:ptCount val="16"/>
                <c:pt idx="0">
                  <c:v>300</c:v>
                </c:pt>
                <c:pt idx="1">
                  <c:v>400</c:v>
                </c:pt>
                <c:pt idx="2">
                  <c:v>380</c:v>
                </c:pt>
                <c:pt idx="3">
                  <c:v>200</c:v>
                </c:pt>
                <c:pt idx="4">
                  <c:v>500</c:v>
                </c:pt>
                <c:pt idx="5">
                  <c:v>550</c:v>
                </c:pt>
                <c:pt idx="6">
                  <c:v>420</c:v>
                </c:pt>
                <c:pt idx="7">
                  <c:v>280</c:v>
                </c:pt>
                <c:pt idx="8">
                  <c:v>190</c:v>
                </c:pt>
                <c:pt idx="9">
                  <c:v>500</c:v>
                </c:pt>
                <c:pt idx="10">
                  <c:v>650</c:v>
                </c:pt>
                <c:pt idx="11">
                  <c:v>320</c:v>
                </c:pt>
                <c:pt idx="12">
                  <c:v>220</c:v>
                </c:pt>
                <c:pt idx="13">
                  <c:v>310</c:v>
                </c:pt>
                <c:pt idx="14">
                  <c:v>100</c:v>
                </c:pt>
                <c:pt idx="15">
                  <c:v>270</c:v>
                </c:pt>
              </c:numCache>
            </c:numRef>
          </c:val>
          <c:spPr>
            <a:solidFill>
              <a:srgbClr val="C08814"/>
            </a:solidFill>
          </c:spPr>
        </c:ser>
        <c:ser>
          <c:idx val="1"/>
          <c:order val="1"/>
          <c:tx>
            <c:strRef>
              <c:f>Sheet1!$C$1</c:f>
              <c:strCache>
                <c:ptCount val="1"/>
                <c:pt idx="0">
                  <c:v>Daily Participants</c:v>
                </c:pt>
              </c:strCache>
            </c:strRef>
          </c:tx>
          <c:cat>
            <c:strRef>
              <c:f>Sheet1!$A$2:$A$17</c:f>
              <c:strCache>
                <c:ptCount val="16"/>
                <c:pt idx="0">
                  <c:v>11/8</c:v>
                </c:pt>
                <c:pt idx="1">
                  <c:v>11/10</c:v>
                </c:pt>
                <c:pt idx="2">
                  <c:v>11/12</c:v>
                </c:pt>
                <c:pt idx="3">
                  <c:v>11/14</c:v>
                </c:pt>
                <c:pt idx="4">
                  <c:v>11/16</c:v>
                </c:pt>
                <c:pt idx="5">
                  <c:v>11/18</c:v>
                </c:pt>
                <c:pt idx="6">
                  <c:v>11/20</c:v>
                </c:pt>
                <c:pt idx="7">
                  <c:v>11/22</c:v>
                </c:pt>
                <c:pt idx="8">
                  <c:v>11/24</c:v>
                </c:pt>
                <c:pt idx="9">
                  <c:v>11/26</c:v>
                </c:pt>
                <c:pt idx="10">
                  <c:v>11/28</c:v>
                </c:pt>
                <c:pt idx="11">
                  <c:v>11/30</c:v>
                </c:pt>
                <c:pt idx="12">
                  <c:v>12/2</c:v>
                </c:pt>
                <c:pt idx="13">
                  <c:v>12/4</c:v>
                </c:pt>
                <c:pt idx="14">
                  <c:v>12/6</c:v>
                </c:pt>
                <c:pt idx="15">
                  <c:v>12/8</c:v>
                </c:pt>
              </c:strCache>
            </c:strRef>
          </c:cat>
          <c:val>
            <c:numRef>
              <c:f>Sheet1!$C$2:$C$17</c:f>
              <c:numCache>
                <c:formatCode>General</c:formatCode>
                <c:ptCount val="16"/>
                <c:pt idx="0">
                  <c:v>240</c:v>
                </c:pt>
                <c:pt idx="1">
                  <c:v>580</c:v>
                </c:pt>
                <c:pt idx="2">
                  <c:v>130</c:v>
                </c:pt>
                <c:pt idx="3">
                  <c:v>420</c:v>
                </c:pt>
                <c:pt idx="4">
                  <c:v>690</c:v>
                </c:pt>
                <c:pt idx="5">
                  <c:v>340</c:v>
                </c:pt>
                <c:pt idx="6">
                  <c:v>560</c:v>
                </c:pt>
                <c:pt idx="7">
                  <c:v>90</c:v>
                </c:pt>
                <c:pt idx="8">
                  <c:v>370</c:v>
                </c:pt>
                <c:pt idx="9">
                  <c:v>620</c:v>
                </c:pt>
                <c:pt idx="10">
                  <c:v>140</c:v>
                </c:pt>
                <c:pt idx="11">
                  <c:v>490</c:v>
                </c:pt>
                <c:pt idx="12">
                  <c:v>330</c:v>
                </c:pt>
                <c:pt idx="13">
                  <c:v>710</c:v>
                </c:pt>
                <c:pt idx="14">
                  <c:v>95</c:v>
                </c:pt>
                <c:pt idx="15">
                  <c:v>380</c:v>
                </c:pt>
              </c:numCache>
            </c:numRef>
          </c:val>
          <c:spPr>
            <a:solidFill>
              <a:srgbClr val="1B357E"/>
            </a:solidFill>
          </c:spPr>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75488"/>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64008"/>
            <a:ext cx="11704320" cy="411480"/>
          </a:xfrm>
          <a:prstGeom prst="rect">
            <a:avLst/>
          </a:prstGeom>
          <a:noFill/>
        </p:spPr>
        <p:txBody>
          <a:bodyPr wrap="square">
            <a:spAutoFit/>
          </a:bodyPr>
          <a:lstStyle/>
          <a:p>
            <a:pPr algn="l"/>
            <a:r>
              <a:rPr sz="2200" b="1" i="0">
                <a:solidFill>
                  <a:srgbClr val="FFFFFF"/>
                </a:solidFill>
                <a:latin typeface="Calibri"/>
              </a:rPr>
              <a:t>Campaign Comms Calendar</a:t>
            </a:r>
          </a:p>
        </p:txBody>
      </p:sp>
      <p:sp>
        <p:nvSpPr>
          <p:cNvPr id="5" name="Rectangle 4"/>
          <p:cNvSpPr/>
          <p:nvPr/>
        </p:nvSpPr>
        <p:spPr>
          <a:xfrm>
            <a:off x="0" y="475488"/>
            <a:ext cx="1691640"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91640" y="475488"/>
            <a:ext cx="3154679"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475488"/>
            <a:ext cx="3154680"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001000" y="475488"/>
            <a:ext cx="4187952" cy="34747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91640" y="512064"/>
            <a:ext cx="3154679" cy="292608"/>
          </a:xfrm>
          <a:prstGeom prst="rect">
            <a:avLst/>
          </a:prstGeom>
          <a:noFill/>
        </p:spPr>
        <p:txBody>
          <a:bodyPr wrap="square">
            <a:spAutoFit/>
          </a:bodyPr>
          <a:lstStyle/>
          <a:p>
            <a:pPr algn="ctr"/>
            <a:r>
              <a:rPr sz="1200" b="1" i="0">
                <a:solidFill>
                  <a:srgbClr val="FFFFFF"/>
                </a:solidFill>
                <a:latin typeface="Calibri"/>
              </a:rPr>
              <a:t>March</a:t>
            </a:r>
          </a:p>
        </p:txBody>
      </p:sp>
      <p:sp>
        <p:nvSpPr>
          <p:cNvPr id="10" name="TextBox 9"/>
          <p:cNvSpPr txBox="1"/>
          <p:nvPr/>
        </p:nvSpPr>
        <p:spPr>
          <a:xfrm>
            <a:off x="4846320" y="512064"/>
            <a:ext cx="3154680" cy="292608"/>
          </a:xfrm>
          <a:prstGeom prst="rect">
            <a:avLst/>
          </a:prstGeom>
          <a:noFill/>
        </p:spPr>
        <p:txBody>
          <a:bodyPr wrap="square">
            <a:spAutoFit/>
          </a:bodyPr>
          <a:lstStyle/>
          <a:p>
            <a:pPr algn="ctr"/>
            <a:r>
              <a:rPr sz="1200" b="1" i="0">
                <a:solidFill>
                  <a:srgbClr val="FFFFFF"/>
                </a:solidFill>
                <a:latin typeface="Calibri"/>
              </a:rPr>
              <a:t>April</a:t>
            </a:r>
          </a:p>
        </p:txBody>
      </p:sp>
      <p:sp>
        <p:nvSpPr>
          <p:cNvPr id="11" name="TextBox 10"/>
          <p:cNvSpPr txBox="1"/>
          <p:nvPr/>
        </p:nvSpPr>
        <p:spPr>
          <a:xfrm>
            <a:off x="8001000" y="512064"/>
            <a:ext cx="4187952" cy="292608"/>
          </a:xfrm>
          <a:prstGeom prst="rect">
            <a:avLst/>
          </a:prstGeom>
          <a:noFill/>
        </p:spPr>
        <p:txBody>
          <a:bodyPr wrap="square">
            <a:spAutoFit/>
          </a:bodyPr>
          <a:lstStyle/>
          <a:p>
            <a:pPr algn="ctr"/>
            <a:r>
              <a:rPr sz="1200" b="1" i="0">
                <a:solidFill>
                  <a:srgbClr val="FFFFFF"/>
                </a:solidFill>
                <a:latin typeface="Calibri"/>
              </a:rPr>
              <a:t>May</a:t>
            </a:r>
          </a:p>
        </p:txBody>
      </p:sp>
      <p:sp>
        <p:nvSpPr>
          <p:cNvPr id="12" name="Rectangle 11"/>
          <p:cNvSpPr/>
          <p:nvPr/>
        </p:nvSpPr>
        <p:spPr>
          <a:xfrm>
            <a:off x="1691640" y="475488"/>
            <a:ext cx="9144"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46320" y="475488"/>
            <a:ext cx="9144"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01000" y="475488"/>
            <a:ext cx="9144"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822960"/>
            <a:ext cx="1218895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691640" y="8229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8229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8229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371600"/>
            <a:ext cx="12188952" cy="5486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91640" y="13716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46320" y="13716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01000" y="13716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920240"/>
            <a:ext cx="1218895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691640" y="192024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846320" y="192024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01000" y="192024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2468879"/>
            <a:ext cx="12188952" cy="5486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691640" y="2468879"/>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846320" y="2468879"/>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01000" y="2468879"/>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3017520"/>
            <a:ext cx="1218895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691640" y="301752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0" y="301752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01000" y="301752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0" y="3566160"/>
            <a:ext cx="12188952" cy="54864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691640" y="35661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46320" y="35661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01000" y="356616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4114800"/>
            <a:ext cx="12188952"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691640" y="41148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46320" y="41148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001000" y="4114800"/>
            <a:ext cx="7315" cy="5486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 y="896112"/>
            <a:ext cx="1554480" cy="457200"/>
          </a:xfrm>
          <a:prstGeom prst="rect">
            <a:avLst/>
          </a:prstGeom>
          <a:noFill/>
        </p:spPr>
        <p:txBody>
          <a:bodyPr wrap="square">
            <a:spAutoFit/>
          </a:bodyPr>
          <a:lstStyle/>
          <a:p>
            <a:pPr algn="l"/>
            <a:r>
              <a:rPr sz="800" b="0" i="0">
                <a:solidFill>
                  <a:srgbClr val="1A1A1A"/>
                </a:solidFill>
                <a:latin typeface="Calibri"/>
              </a:rPr>
              <a:t>Agent
Comms</a:t>
            </a:r>
          </a:p>
        </p:txBody>
      </p:sp>
      <p:sp>
        <p:nvSpPr>
          <p:cNvPr id="44" name="TextBox 43"/>
          <p:cNvSpPr txBox="1"/>
          <p:nvPr/>
        </p:nvSpPr>
        <p:spPr>
          <a:xfrm>
            <a:off x="91440" y="144475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45" name="TextBox 44"/>
          <p:cNvSpPr txBox="1"/>
          <p:nvPr/>
        </p:nvSpPr>
        <p:spPr>
          <a:xfrm>
            <a:off x="91440" y="199339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46" name="TextBox 45"/>
          <p:cNvSpPr txBox="1"/>
          <p:nvPr/>
        </p:nvSpPr>
        <p:spPr>
          <a:xfrm>
            <a:off x="91440" y="254203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47" name="TextBox 46"/>
          <p:cNvSpPr txBox="1"/>
          <p:nvPr/>
        </p:nvSpPr>
        <p:spPr>
          <a:xfrm>
            <a:off x="91440" y="309067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48" name="TextBox 47"/>
          <p:cNvSpPr txBox="1"/>
          <p:nvPr/>
        </p:nvSpPr>
        <p:spPr>
          <a:xfrm>
            <a:off x="91440" y="363931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49" name="TextBox 48"/>
          <p:cNvSpPr txBox="1"/>
          <p:nvPr/>
        </p:nvSpPr>
        <p:spPr>
          <a:xfrm>
            <a:off x="91440" y="4187952"/>
            <a:ext cx="1554480" cy="457200"/>
          </a:xfrm>
          <a:prstGeom prst="rect">
            <a:avLst/>
          </a:prstGeom>
          <a:noFill/>
        </p:spPr>
        <p:txBody>
          <a:bodyPr wrap="square">
            <a:spAutoFit/>
          </a:bodyPr>
          <a:lstStyle/>
          <a:p>
            <a:pPr algn="l"/>
            <a:r>
              <a:rPr sz="800" b="0" i="0">
                <a:solidFill>
                  <a:srgbClr val="1A1A1A"/>
                </a:solidFill>
                <a:latin typeface="Calibri"/>
              </a:rPr>
              <a:t>xxx Campaign</a:t>
            </a:r>
          </a:p>
        </p:txBody>
      </p:sp>
      <p:sp>
        <p:nvSpPr>
          <p:cNvPr id="50" name="Rectangle 49"/>
          <p:cNvSpPr/>
          <p:nvPr/>
        </p:nvSpPr>
        <p:spPr>
          <a:xfrm>
            <a:off x="2200459" y="914400"/>
            <a:ext cx="915874" cy="365759"/>
          </a:xfrm>
          <a:prstGeom prst="rect">
            <a:avLst/>
          </a:prstGeom>
          <a:solidFill>
            <a:srgbClr val="FFFFFF"/>
          </a:solidFill>
          <a:ln w="15240">
            <a:solidFill>
              <a:srgbClr val="0D1B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246179" y="969264"/>
            <a:ext cx="824434" cy="274319"/>
          </a:xfrm>
          <a:prstGeom prst="rect">
            <a:avLst/>
          </a:prstGeom>
          <a:noFill/>
        </p:spPr>
        <p:txBody>
          <a:bodyPr wrap="square">
            <a:spAutoFit/>
          </a:bodyPr>
          <a:lstStyle/>
          <a:p>
            <a:pPr algn="ctr"/>
            <a:r>
              <a:rPr sz="800" b="1" i="0">
                <a:solidFill>
                  <a:srgbClr val="0D1B3E"/>
                </a:solidFill>
                <a:latin typeface="Calibri"/>
              </a:rPr>
              <a:t>5 – 14 Mar</a:t>
            </a:r>
          </a:p>
        </p:txBody>
      </p:sp>
      <p:sp>
        <p:nvSpPr>
          <p:cNvPr id="52" name="Rectangle 51"/>
          <p:cNvSpPr/>
          <p:nvPr/>
        </p:nvSpPr>
        <p:spPr>
          <a:xfrm>
            <a:off x="1793403" y="1463040"/>
            <a:ext cx="5681816" cy="365759"/>
          </a:xfrm>
          <a:prstGeom prst="rect">
            <a:avLst/>
          </a:prstGeom>
          <a:solidFill>
            <a:srgbClr val="2E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30563" y="1536192"/>
            <a:ext cx="5407496" cy="274319"/>
          </a:xfrm>
          <a:prstGeom prst="rect">
            <a:avLst/>
          </a:prstGeom>
          <a:noFill/>
        </p:spPr>
        <p:txBody>
          <a:bodyPr wrap="square">
            <a:spAutoFit/>
          </a:bodyPr>
          <a:lstStyle/>
          <a:p>
            <a:pPr algn="l"/>
            <a:r>
              <a:rPr sz="800" b="1" i="0">
                <a:solidFill>
                  <a:srgbClr val="FFFFFF"/>
                </a:solidFill>
                <a:latin typeface="Calibri"/>
              </a:rPr>
              <a:t>xxx Campaign  |  xxx audience</a:t>
            </a:r>
          </a:p>
        </p:txBody>
      </p:sp>
      <p:sp>
        <p:nvSpPr>
          <p:cNvPr id="54" name="Rectangle 53"/>
          <p:cNvSpPr/>
          <p:nvPr/>
        </p:nvSpPr>
        <p:spPr>
          <a:xfrm>
            <a:off x="2709278" y="2011680"/>
            <a:ext cx="2452509" cy="365759"/>
          </a:xfrm>
          <a:prstGeom prst="rect">
            <a:avLst/>
          </a:prstGeom>
          <a:solidFill>
            <a:srgbClr val="C08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372100" y="2011680"/>
            <a:ext cx="1787652" cy="365759"/>
          </a:xfrm>
          <a:prstGeom prst="rect">
            <a:avLst/>
          </a:prstGeom>
          <a:solidFill>
            <a:srgbClr val="C08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63540" y="2084832"/>
            <a:ext cx="1604772" cy="274319"/>
          </a:xfrm>
          <a:prstGeom prst="rect">
            <a:avLst/>
          </a:prstGeom>
          <a:noFill/>
        </p:spPr>
        <p:txBody>
          <a:bodyPr wrap="square">
            <a:spAutoFit/>
          </a:bodyPr>
          <a:lstStyle/>
          <a:p>
            <a:pPr algn="l"/>
            <a:r>
              <a:rPr sz="800" b="0" i="0">
                <a:solidFill>
                  <a:srgbClr val="FFFFFF"/>
                </a:solidFill>
                <a:latin typeface="Calibri"/>
              </a:rPr>
              <a:t>xxx Campaign</a:t>
            </a:r>
          </a:p>
        </p:txBody>
      </p:sp>
      <p:sp>
        <p:nvSpPr>
          <p:cNvPr id="57" name="Rectangle 56"/>
          <p:cNvSpPr/>
          <p:nvPr/>
        </p:nvSpPr>
        <p:spPr>
          <a:xfrm>
            <a:off x="2505750" y="2560320"/>
            <a:ext cx="4233377" cy="365759"/>
          </a:xfrm>
          <a:prstGeom prst="rect">
            <a:avLst/>
          </a:prstGeom>
          <a:solidFill>
            <a:srgbClr val="C08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87568" y="3108960"/>
            <a:ext cx="2103120" cy="365759"/>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633972" y="3694176"/>
            <a:ext cx="420623" cy="329184"/>
          </a:xfrm>
          <a:prstGeom prst="rect">
            <a:avLst/>
          </a:prstGeom>
          <a:solidFill>
            <a:srgbClr val="2E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33972" y="3703320"/>
            <a:ext cx="420623" cy="365759"/>
          </a:xfrm>
          <a:prstGeom prst="rect">
            <a:avLst/>
          </a:prstGeom>
          <a:noFill/>
        </p:spPr>
        <p:txBody>
          <a:bodyPr wrap="square">
            <a:spAutoFit/>
          </a:bodyPr>
          <a:lstStyle/>
          <a:p>
            <a:pPr algn="ctr"/>
            <a:r>
              <a:rPr sz="800" b="1" i="0">
                <a:solidFill>
                  <a:srgbClr val="FFFFFF"/>
                </a:solidFill>
                <a:latin typeface="Calibri"/>
              </a:rPr>
              <a:t>✉  Winner EDM</a:t>
            </a:r>
          </a:p>
          <a:p>
            <a:pPr algn="ctr"/>
            <a:r>
              <a:rPr sz="750" b="0" i="0">
                <a:solidFill>
                  <a:srgbClr val="FFFFFF"/>
                </a:solidFill>
                <a:latin typeface="Calibri"/>
              </a:rPr>
              <a:t>17–21st April</a:t>
            </a:r>
          </a:p>
        </p:txBody>
      </p:sp>
      <p:sp>
        <p:nvSpPr>
          <p:cNvPr id="61" name="Rectangle 60"/>
          <p:cNvSpPr/>
          <p:nvPr/>
        </p:nvSpPr>
        <p:spPr>
          <a:xfrm>
            <a:off x="0" y="4700016"/>
            <a:ext cx="12188952" cy="215798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28600" y="4736592"/>
            <a:ext cx="11704320" cy="201168"/>
          </a:xfrm>
          <a:prstGeom prst="rect">
            <a:avLst/>
          </a:prstGeom>
          <a:noFill/>
        </p:spPr>
        <p:txBody>
          <a:bodyPr wrap="square">
            <a:spAutoFit/>
          </a:bodyPr>
          <a:lstStyle/>
          <a:p>
            <a:pPr algn="l"/>
            <a:r>
              <a:rPr sz="800" b="0" i="0">
                <a:solidFill>
                  <a:srgbClr val="1A1A1A"/>
                </a:solidFill>
                <a:latin typeface="Calibri"/>
              </a:rPr>
              <a:t>•  xxx Campaign  ·  xxx audience  ·  xx – xx Mar</a:t>
            </a:r>
          </a:p>
        </p:txBody>
      </p:sp>
      <p:sp>
        <p:nvSpPr>
          <p:cNvPr id="63" name="TextBox 62"/>
          <p:cNvSpPr txBox="1"/>
          <p:nvPr/>
        </p:nvSpPr>
        <p:spPr>
          <a:xfrm>
            <a:off x="228600" y="4937760"/>
            <a:ext cx="11704320" cy="201168"/>
          </a:xfrm>
          <a:prstGeom prst="rect">
            <a:avLst/>
          </a:prstGeom>
          <a:noFill/>
        </p:spPr>
        <p:txBody>
          <a:bodyPr wrap="square">
            <a:spAutoFit/>
          </a:bodyPr>
          <a:lstStyle/>
          <a:p>
            <a:pPr algn="l"/>
            <a:r>
              <a:rPr sz="800" b="0" i="0">
                <a:solidFill>
                  <a:srgbClr val="1A1A1A"/>
                </a:solidFill>
                <a:latin typeface="Calibri"/>
              </a:rPr>
              <a:t>•  WABA Blast (xxx Campaign &amp; xxx Campaign)  ~  xx – xx Mar  ·  xxx audience</a:t>
            </a:r>
          </a:p>
        </p:txBody>
      </p:sp>
      <p:sp>
        <p:nvSpPr>
          <p:cNvPr id="64" name="TextBox 63"/>
          <p:cNvSpPr txBox="1"/>
          <p:nvPr/>
        </p:nvSpPr>
        <p:spPr>
          <a:xfrm>
            <a:off x="228600" y="5138928"/>
            <a:ext cx="11704320" cy="201168"/>
          </a:xfrm>
          <a:prstGeom prst="rect">
            <a:avLst/>
          </a:prstGeom>
          <a:noFill/>
        </p:spPr>
        <p:txBody>
          <a:bodyPr wrap="square">
            <a:spAutoFit/>
          </a:bodyPr>
          <a:lstStyle/>
          <a:p>
            <a:pPr algn="l"/>
            <a:r>
              <a:rPr sz="800" b="0" i="0">
                <a:solidFill>
                  <a:srgbClr val="1A1A1A"/>
                </a:solidFill>
                <a:latin typeface="Calibri"/>
              </a:rPr>
              <a:t>•  xxx Campaign  ·  xx – xx April  ·  xxx audience</a:t>
            </a:r>
          </a:p>
        </p:txBody>
      </p:sp>
      <p:sp>
        <p:nvSpPr>
          <p:cNvPr id="65" name="TextBox 64"/>
          <p:cNvSpPr txBox="1"/>
          <p:nvPr/>
        </p:nvSpPr>
        <p:spPr>
          <a:xfrm>
            <a:off x="228600" y="5340096"/>
            <a:ext cx="11704320" cy="201168"/>
          </a:xfrm>
          <a:prstGeom prst="rect">
            <a:avLst/>
          </a:prstGeom>
          <a:noFill/>
        </p:spPr>
        <p:txBody>
          <a:bodyPr wrap="square">
            <a:spAutoFit/>
          </a:bodyPr>
          <a:lstStyle/>
          <a:p>
            <a:pPr algn="l"/>
            <a:r>
              <a:rPr sz="800" b="0" i="0">
                <a:solidFill>
                  <a:srgbClr val="1A1A1A"/>
                </a:solidFill>
                <a:latin typeface="Calibri"/>
              </a:rPr>
              <a:t>•  xxx Campaign  ·  xx – xx April  ·  xxx audience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8E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64592"/>
            <a:ext cx="5029200" cy="365760"/>
          </a:xfrm>
          <a:prstGeom prst="rect">
            <a:avLst/>
          </a:prstGeom>
          <a:noFill/>
        </p:spPr>
        <p:txBody>
          <a:bodyPr wrap="square">
            <a:spAutoFit/>
          </a:bodyPr>
          <a:lstStyle/>
          <a:p>
            <a:pPr algn="l"/>
            <a:r>
              <a:rPr sz="1400" b="1" i="0">
                <a:solidFill>
                  <a:srgbClr val="4A7296"/>
                </a:solidFill>
                <a:latin typeface="Calibri"/>
              </a:rPr>
              <a:t>Sample copy + Visual</a:t>
            </a:r>
          </a:p>
        </p:txBody>
      </p:sp>
      <p:sp>
        <p:nvSpPr>
          <p:cNvPr id="4" name="Rectangle 3"/>
          <p:cNvSpPr/>
          <p:nvPr/>
        </p:nvSpPr>
        <p:spPr>
          <a:xfrm>
            <a:off x="5303520" y="137160"/>
            <a:ext cx="3474720" cy="36576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49240" y="164592"/>
            <a:ext cx="3383280" cy="320040"/>
          </a:xfrm>
          <a:prstGeom prst="rect">
            <a:avLst/>
          </a:prstGeom>
          <a:noFill/>
        </p:spPr>
        <p:txBody>
          <a:bodyPr wrap="square">
            <a:spAutoFit/>
          </a:bodyPr>
          <a:lstStyle/>
          <a:p>
            <a:pPr algn="ctr"/>
            <a:r>
              <a:rPr sz="900" b="0" i="0">
                <a:solidFill>
                  <a:srgbClr val="888888"/>
                </a:solidFill>
                <a:latin typeface="Calibri"/>
              </a:rPr>
              <a:t>xxx Segment  |  xxx audience</a:t>
            </a:r>
          </a:p>
        </p:txBody>
      </p:sp>
      <p:sp>
        <p:nvSpPr>
          <p:cNvPr id="6" name="TextBox 5"/>
          <p:cNvSpPr txBox="1"/>
          <p:nvPr/>
        </p:nvSpPr>
        <p:spPr>
          <a:xfrm>
            <a:off x="274320" y="685800"/>
            <a:ext cx="5303520" cy="5669280"/>
          </a:xfrm>
          <a:prstGeom prst="rect">
            <a:avLst/>
          </a:prstGeom>
          <a:noFill/>
        </p:spPr>
        <p:txBody>
          <a:bodyPr wrap="square">
            <a:spAutoFit/>
          </a:bodyPr>
          <a:lstStyle/>
          <a:p>
            <a:pPr algn="l"/>
            <a:r>
              <a:rPr sz="1100" b="0" i="0">
                <a:solidFill>
                  <a:srgbClr val="1A1A1A"/>
                </a:solidFill>
                <a:latin typeface="Calibri"/>
              </a:rPr>
              <a:t>Dear Value Allianz Malaysia customers,</a:t>
            </a:r>
          </a:p>
          <a:p>
            <a:pPr algn="l"/>
            <a:r>
              <a:rPr sz="400" b="0" i="0">
                <a:solidFill>
                  <a:srgbClr val="1A1A1A"/>
                </a:solidFill>
                <a:latin typeface="Calibri"/>
              </a:rPr>
              <a:t/>
            </a:r>
          </a:p>
          <a:p>
            <a:pPr algn="l"/>
            <a:r>
              <a:rPr sz="1050" b="0" i="0">
                <a:solidFill>
                  <a:srgbClr val="1A1A1A"/>
                </a:solidFill>
                <a:latin typeface="Calibri"/>
              </a:rPr>
              <a:t>Come join us to cheer and support our national badminton stars from 20th – 25th May 2025 at Stadium Axiata Arena, Bukit Jalil!</a:t>
            </a:r>
          </a:p>
          <a:p>
            <a:pPr algn="l"/>
            <a:r>
              <a:rPr sz="400" b="0" i="0">
                <a:solidFill>
                  <a:srgbClr val="1A1A1A"/>
                </a:solidFill>
                <a:latin typeface="Calibri"/>
              </a:rPr>
              <a:t/>
            </a:r>
          </a:p>
          <a:p>
            <a:pPr algn="l"/>
            <a:r>
              <a:rPr sz="1050" b="0" i="0">
                <a:solidFill>
                  <a:srgbClr val="1A1A1A"/>
                </a:solidFill>
                <a:latin typeface="Calibri"/>
              </a:rPr>
              <a:t>Here's your chance to grab a pair of special invitations for you and your loved one to witness the biggest badminton event of 2025 and watch the best of the best badminton players go all out for the coveted tournament title!</a:t>
            </a:r>
          </a:p>
          <a:p>
            <a:pPr algn="l"/>
            <a:r>
              <a:rPr sz="400" b="0" i="0">
                <a:solidFill>
                  <a:srgbClr val="1A1A1A"/>
                </a:solidFill>
                <a:latin typeface="Calibri"/>
              </a:rPr>
              <a:t/>
            </a:r>
          </a:p>
          <a:p>
            <a:pPr algn="l"/>
            <a:r>
              <a:rPr sz="1050" b="0" i="0">
                <a:solidFill>
                  <a:srgbClr val="1A1A1A"/>
                </a:solidFill>
                <a:latin typeface="Calibri"/>
              </a:rPr>
              <a:t>Don't miss it! Join the campaign via MyAllianz today and secure your spot to see the champions in action!</a:t>
            </a:r>
          </a:p>
        </p:txBody>
      </p:sp>
      <p:sp>
        <p:nvSpPr>
          <p:cNvPr id="7" name="Rectangle 6"/>
          <p:cNvSpPr/>
          <p:nvPr/>
        </p:nvSpPr>
        <p:spPr>
          <a:xfrm>
            <a:off x="5852160" y="594360"/>
            <a:ext cx="6080760" cy="5852160"/>
          </a:xfrm>
          <a:prstGeom prst="rect">
            <a:avLst/>
          </a:prstGeom>
          <a:solidFill>
            <a:srgbClr val="1B35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749808"/>
            <a:ext cx="3200400" cy="457200"/>
          </a:xfrm>
          <a:prstGeom prst="rect">
            <a:avLst/>
          </a:prstGeom>
          <a:noFill/>
        </p:spPr>
        <p:txBody>
          <a:bodyPr wrap="square">
            <a:spAutoFit/>
          </a:bodyPr>
          <a:lstStyle/>
          <a:p>
            <a:pPr algn="l"/>
            <a:r>
              <a:rPr sz="1800" b="1" i="0">
                <a:solidFill>
                  <a:srgbClr val="FFFFFF"/>
                </a:solidFill>
                <a:latin typeface="Calibri"/>
              </a:rPr>
              <a:t>Allianz ⊕</a:t>
            </a:r>
          </a:p>
        </p:txBody>
      </p:sp>
      <p:sp>
        <p:nvSpPr>
          <p:cNvPr id="9" name="TextBox 8"/>
          <p:cNvSpPr txBox="1"/>
          <p:nvPr/>
        </p:nvSpPr>
        <p:spPr>
          <a:xfrm>
            <a:off x="6080760" y="1737360"/>
            <a:ext cx="5394960" cy="2743200"/>
          </a:xfrm>
          <a:prstGeom prst="rect">
            <a:avLst/>
          </a:prstGeom>
          <a:noFill/>
        </p:spPr>
        <p:txBody>
          <a:bodyPr wrap="square">
            <a:spAutoFit/>
          </a:bodyPr>
          <a:lstStyle/>
          <a:p>
            <a:pPr algn="l"/>
            <a:r>
              <a:rPr sz="2000" b="1" i="0">
                <a:solidFill>
                  <a:srgbClr val="2E788A"/>
                </a:solidFill>
                <a:latin typeface="Calibri"/>
              </a:rPr>
              <a:t>Win invitations</a:t>
            </a:r>
          </a:p>
          <a:p>
            <a:pPr algn="l"/>
            <a:r>
              <a:rPr sz="1600" b="0" i="0">
                <a:solidFill>
                  <a:srgbClr val="FFFFFF"/>
                </a:solidFill>
                <a:latin typeface="Calibri"/>
              </a:rPr>
              <a:t>to support our national</a:t>
            </a:r>
          </a:p>
          <a:p>
            <a:pPr algn="l"/>
            <a:r>
              <a:rPr sz="1600" b="0" i="0">
                <a:solidFill>
                  <a:srgbClr val="FFFFFF"/>
                </a:solidFill>
                <a:latin typeface="Calibri"/>
              </a:rPr>
              <a:t>badminton stars</a:t>
            </a:r>
          </a:p>
          <a:p>
            <a:pPr algn="l"/>
            <a:r>
              <a:rPr sz="600" b="0" i="0">
                <a:solidFill>
                  <a:srgbClr val="FFFFFF"/>
                </a:solidFill>
                <a:latin typeface="Calibri"/>
              </a:rPr>
              <a:t/>
            </a:r>
          </a:p>
          <a:p>
            <a:pPr algn="l"/>
            <a:r>
              <a:rPr sz="850" b="0" i="0">
                <a:solidFill>
                  <a:srgbClr val="CCCCCC"/>
                </a:solidFill>
                <a:latin typeface="Calibri"/>
              </a:rPr>
              <a:t>7 – 12 Jan 2025  |  Stadium Axiata Arena, Bukit Jalil</a:t>
            </a:r>
          </a:p>
        </p:txBody>
      </p:sp>
      <p:sp>
        <p:nvSpPr>
          <p:cNvPr id="10" name="Rectangle 9"/>
          <p:cNvSpPr/>
          <p:nvPr/>
        </p:nvSpPr>
        <p:spPr>
          <a:xfrm>
            <a:off x="9144000" y="1005840"/>
            <a:ext cx="2560320" cy="4389120"/>
          </a:xfrm>
          <a:prstGeom prst="rect">
            <a:avLst/>
          </a:prstGeom>
          <a:solidFill>
            <a:srgbClr val="3560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0" y="2286000"/>
            <a:ext cx="2011680" cy="1371600"/>
          </a:xfrm>
          <a:prstGeom prst="rect">
            <a:avLst/>
          </a:prstGeom>
          <a:noFill/>
        </p:spPr>
        <p:txBody>
          <a:bodyPr wrap="square">
            <a:spAutoFit/>
          </a:bodyPr>
          <a:lstStyle/>
          <a:p>
            <a:pPr algn="ctr"/>
            <a:r>
              <a:rPr sz="900" b="0" i="1">
                <a:solidFill>
                  <a:srgbClr val="CCCCCC"/>
                </a:solidFill>
                <a:latin typeface="Calibri"/>
              </a:rPr>
              <a:t>[Badminton
players
photo]</a:t>
            </a:r>
          </a:p>
        </p:txBody>
      </p:sp>
      <p:sp>
        <p:nvSpPr>
          <p:cNvPr id="12" name="Rectangle 11"/>
          <p:cNvSpPr/>
          <p:nvPr/>
        </p:nvSpPr>
        <p:spPr>
          <a:xfrm>
            <a:off x="10698480" y="713232"/>
            <a:ext cx="1097280" cy="10972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16768" y="822960"/>
            <a:ext cx="1060704" cy="868680"/>
          </a:xfrm>
          <a:prstGeom prst="rect">
            <a:avLst/>
          </a:prstGeom>
          <a:noFill/>
        </p:spPr>
        <p:txBody>
          <a:bodyPr wrap="square">
            <a:spAutoFit/>
          </a:bodyPr>
          <a:lstStyle/>
          <a:p>
            <a:pPr algn="ctr"/>
            <a:r>
              <a:rPr sz="650" b="1" i="0">
                <a:solidFill>
                  <a:srgbClr val="FFFFFF"/>
                </a:solidFill>
                <a:latin typeface="Calibri"/>
              </a:rPr>
              <a:t>Exclusively</a:t>
            </a:r>
          </a:p>
          <a:p>
            <a:pPr algn="ctr"/>
            <a:r>
              <a:rPr sz="650" b="0" i="0">
                <a:solidFill>
                  <a:srgbClr val="FFFFFF"/>
                </a:solidFill>
                <a:latin typeface="Calibri"/>
              </a:rPr>
              <a:t>for Allianz</a:t>
            </a:r>
          </a:p>
          <a:p>
            <a:pPr algn="ctr"/>
            <a:r>
              <a:rPr sz="650" b="0" i="0">
                <a:solidFill>
                  <a:srgbClr val="FFFFFF"/>
                </a:solidFill>
                <a:latin typeface="Calibri"/>
              </a:rPr>
              <a:t>Malaysia</a:t>
            </a:r>
          </a:p>
          <a:p>
            <a:pPr algn="ctr"/>
            <a:r>
              <a:rPr sz="650" b="0" i="0">
                <a:solidFill>
                  <a:srgbClr val="FFFFFF"/>
                </a:solidFill>
                <a:latin typeface="Calibri"/>
              </a:rPr>
              <a:t>Customers</a:t>
            </a:r>
          </a:p>
        </p:txBody>
      </p:sp>
      <p:sp>
        <p:nvSpPr>
          <p:cNvPr id="14" name="Rectangle 13"/>
          <p:cNvSpPr/>
          <p:nvPr/>
        </p:nvSpPr>
        <p:spPr>
          <a:xfrm>
            <a:off x="5852160" y="6217920"/>
            <a:ext cx="6080760" cy="54864"/>
          </a:xfrm>
          <a:prstGeom prst="rect">
            <a:avLst/>
          </a:prstGeom>
          <a:solidFill>
            <a:srgbClr val="2E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35040" y="6309360"/>
            <a:ext cx="4572000" cy="274320"/>
          </a:xfrm>
          <a:prstGeom prst="rect">
            <a:avLst/>
          </a:prstGeom>
          <a:noFill/>
        </p:spPr>
        <p:txBody>
          <a:bodyPr wrap="square">
            <a:spAutoFit/>
          </a:bodyPr>
          <a:lstStyle/>
          <a:p>
            <a:pPr algn="l"/>
            <a:r>
              <a:rPr sz="700" b="0" i="1">
                <a:solidFill>
                  <a:srgbClr val="888888"/>
                </a:solidFill>
                <a:latin typeface="Calibri"/>
              </a:rPr>
              <a:t>Terms and conditions apply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2743200" cy="411480"/>
          </a:xfrm>
          <a:prstGeom prst="rect">
            <a:avLst/>
          </a:prstGeom>
          <a:noFill/>
        </p:spPr>
        <p:txBody>
          <a:bodyPr wrap="square">
            <a:spAutoFit/>
          </a:bodyPr>
          <a:lstStyle/>
          <a:p>
            <a:pPr algn="l"/>
            <a:r>
              <a:rPr sz="1800" b="1" i="0">
                <a:solidFill>
                  <a:srgbClr val="1A1A1A"/>
                </a:solidFill>
                <a:latin typeface="Calibri"/>
              </a:rPr>
              <a:t>Overview</a:t>
            </a:r>
          </a:p>
        </p:txBody>
      </p:sp>
      <p:sp>
        <p:nvSpPr>
          <p:cNvPr id="4" name="TextBox 3"/>
          <p:cNvSpPr txBox="1"/>
          <p:nvPr/>
        </p:nvSpPr>
        <p:spPr>
          <a:xfrm>
            <a:off x="274320" y="566928"/>
            <a:ext cx="5303520" cy="365760"/>
          </a:xfrm>
          <a:prstGeom prst="rect">
            <a:avLst/>
          </a:prstGeom>
          <a:noFill/>
        </p:spPr>
        <p:txBody>
          <a:bodyPr wrap="square">
            <a:spAutoFit/>
          </a:bodyPr>
          <a:lstStyle/>
          <a:p>
            <a:pPr algn="l"/>
            <a:r>
              <a:rPr sz="950" b="0" i="0">
                <a:solidFill>
                  <a:srgbClr val="1A1A1A"/>
                </a:solidFill>
                <a:latin typeface="Calibri"/>
              </a:rPr>
              <a:t>•  As of 25 November 2025, a total of xxx customers were reached.</a:t>
            </a:r>
          </a:p>
        </p:txBody>
      </p:sp>
      <p:sp>
        <p:nvSpPr>
          <p:cNvPr id="5" name="TextBox 4"/>
          <p:cNvSpPr txBox="1"/>
          <p:nvPr/>
        </p:nvSpPr>
        <p:spPr>
          <a:xfrm>
            <a:off x="274320" y="950976"/>
            <a:ext cx="5303520" cy="365760"/>
          </a:xfrm>
          <a:prstGeom prst="rect">
            <a:avLst/>
          </a:prstGeom>
          <a:noFill/>
        </p:spPr>
        <p:txBody>
          <a:bodyPr wrap="square">
            <a:spAutoFit/>
          </a:bodyPr>
          <a:lstStyle/>
          <a:p>
            <a:pPr algn="l"/>
            <a:r>
              <a:rPr sz="950" b="0" i="0">
                <a:solidFill>
                  <a:srgbClr val="1A1A1A"/>
                </a:solidFill>
                <a:latin typeface="Calibri"/>
              </a:rPr>
              <a:t>•  Of the xxx customers, xxx are unique and xxx categories due to cross-channel participation.</a:t>
            </a:r>
          </a:p>
        </p:txBody>
      </p:sp>
      <p:sp>
        <p:nvSpPr>
          <p:cNvPr id="6" name="TextBox 5"/>
          <p:cNvSpPr txBox="1"/>
          <p:nvPr/>
        </p:nvSpPr>
        <p:spPr>
          <a:xfrm>
            <a:off x="274320" y="1417320"/>
            <a:ext cx="5303520" cy="320040"/>
          </a:xfrm>
          <a:prstGeom prst="rect">
            <a:avLst/>
          </a:prstGeom>
          <a:noFill/>
        </p:spPr>
        <p:txBody>
          <a:bodyPr wrap="square">
            <a:spAutoFit/>
          </a:bodyPr>
          <a:lstStyle/>
          <a:p>
            <a:pPr algn="l"/>
            <a:r>
              <a:rPr sz="1200" b="1" i="0">
                <a:solidFill>
                  <a:srgbClr val="1A1A1A"/>
                </a:solidFill>
                <a:latin typeface="Calibri"/>
              </a:rPr>
              <a:t>Daily Participation</a:t>
            </a:r>
          </a:p>
        </p:txBody>
      </p:sp>
      <p:sp>
        <p:nvSpPr>
          <p:cNvPr id="7" name="Rectangle 6"/>
          <p:cNvSpPr/>
          <p:nvPr/>
        </p:nvSpPr>
        <p:spPr>
          <a:xfrm>
            <a:off x="274320"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 y="1810512"/>
            <a:ext cx="847344" cy="219456"/>
          </a:xfrm>
          <a:prstGeom prst="rect">
            <a:avLst/>
          </a:prstGeom>
          <a:noFill/>
        </p:spPr>
        <p:txBody>
          <a:bodyPr wrap="square">
            <a:spAutoFit/>
          </a:bodyPr>
          <a:lstStyle/>
          <a:p>
            <a:pPr algn="ctr"/>
            <a:r>
              <a:rPr sz="700" b="1" i="0">
                <a:solidFill>
                  <a:srgbClr val="FFFFFF"/>
                </a:solidFill>
                <a:latin typeface="Calibri"/>
              </a:rPr>
              <a:t>Date</a:t>
            </a:r>
          </a:p>
        </p:txBody>
      </p:sp>
      <p:sp>
        <p:nvSpPr>
          <p:cNvPr id="9" name="Rectangle 8"/>
          <p:cNvSpPr/>
          <p:nvPr/>
        </p:nvSpPr>
        <p:spPr>
          <a:xfrm>
            <a:off x="1158240"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6528" y="1810512"/>
            <a:ext cx="847344" cy="219456"/>
          </a:xfrm>
          <a:prstGeom prst="rect">
            <a:avLst/>
          </a:prstGeom>
          <a:noFill/>
        </p:spPr>
        <p:txBody>
          <a:bodyPr wrap="square">
            <a:spAutoFit/>
          </a:bodyPr>
          <a:lstStyle/>
          <a:p>
            <a:pPr algn="ctr"/>
            <a:r>
              <a:rPr sz="700" b="1" i="0">
                <a:solidFill>
                  <a:srgbClr val="FFFFFF"/>
                </a:solidFill>
                <a:latin typeface="Calibri"/>
              </a:rPr>
              <a:t>xxx</a:t>
            </a:r>
          </a:p>
        </p:txBody>
      </p:sp>
      <p:sp>
        <p:nvSpPr>
          <p:cNvPr id="11" name="Rectangle 10"/>
          <p:cNvSpPr/>
          <p:nvPr/>
        </p:nvSpPr>
        <p:spPr>
          <a:xfrm>
            <a:off x="2042160"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60448" y="1810512"/>
            <a:ext cx="847344" cy="219456"/>
          </a:xfrm>
          <a:prstGeom prst="rect">
            <a:avLst/>
          </a:prstGeom>
          <a:noFill/>
        </p:spPr>
        <p:txBody>
          <a:bodyPr wrap="square">
            <a:spAutoFit/>
          </a:bodyPr>
          <a:lstStyle/>
          <a:p>
            <a:pPr algn="ctr"/>
            <a:r>
              <a:rPr sz="700" b="1" i="0">
                <a:solidFill>
                  <a:srgbClr val="FFFFFF"/>
                </a:solidFill>
                <a:latin typeface="Calibri"/>
              </a:rPr>
              <a:t>xxx</a:t>
            </a:r>
          </a:p>
        </p:txBody>
      </p:sp>
      <p:sp>
        <p:nvSpPr>
          <p:cNvPr id="13" name="Rectangle 12"/>
          <p:cNvSpPr/>
          <p:nvPr/>
        </p:nvSpPr>
        <p:spPr>
          <a:xfrm>
            <a:off x="2926079"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4368" y="1810512"/>
            <a:ext cx="847344" cy="219456"/>
          </a:xfrm>
          <a:prstGeom prst="rect">
            <a:avLst/>
          </a:prstGeom>
          <a:noFill/>
        </p:spPr>
        <p:txBody>
          <a:bodyPr wrap="square">
            <a:spAutoFit/>
          </a:bodyPr>
          <a:lstStyle/>
          <a:p>
            <a:pPr algn="ctr"/>
            <a:r>
              <a:rPr sz="700" b="1" i="0">
                <a:solidFill>
                  <a:srgbClr val="FFFFFF"/>
                </a:solidFill>
                <a:latin typeface="Calibri"/>
              </a:rPr>
              <a:t>xxx</a:t>
            </a:r>
          </a:p>
        </p:txBody>
      </p:sp>
      <p:sp>
        <p:nvSpPr>
          <p:cNvPr id="15" name="Rectangle 14"/>
          <p:cNvSpPr/>
          <p:nvPr/>
        </p:nvSpPr>
        <p:spPr>
          <a:xfrm>
            <a:off x="3810000"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28288" y="1810512"/>
            <a:ext cx="847344" cy="219456"/>
          </a:xfrm>
          <a:prstGeom prst="rect">
            <a:avLst/>
          </a:prstGeom>
          <a:noFill/>
        </p:spPr>
        <p:txBody>
          <a:bodyPr wrap="square">
            <a:spAutoFit/>
          </a:bodyPr>
          <a:lstStyle/>
          <a:p>
            <a:pPr algn="ctr"/>
            <a:r>
              <a:rPr sz="700" b="1" i="0">
                <a:solidFill>
                  <a:srgbClr val="FFFFFF"/>
                </a:solidFill>
                <a:latin typeface="Calibri"/>
              </a:rPr>
              <a:t>xxx</a:t>
            </a:r>
          </a:p>
        </p:txBody>
      </p:sp>
      <p:sp>
        <p:nvSpPr>
          <p:cNvPr id="17" name="Rectangle 16"/>
          <p:cNvSpPr/>
          <p:nvPr/>
        </p:nvSpPr>
        <p:spPr>
          <a:xfrm>
            <a:off x="4693920" y="1783080"/>
            <a:ext cx="883920" cy="256032"/>
          </a:xfrm>
          <a:prstGeom prst="rect">
            <a:avLst/>
          </a:prstGeom>
          <a:solidFill>
            <a:srgbClr val="0D1B3E"/>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12207" y="1810512"/>
            <a:ext cx="847344" cy="219456"/>
          </a:xfrm>
          <a:prstGeom prst="rect">
            <a:avLst/>
          </a:prstGeom>
          <a:noFill/>
        </p:spPr>
        <p:txBody>
          <a:bodyPr wrap="square">
            <a:spAutoFit/>
          </a:bodyPr>
          <a:lstStyle/>
          <a:p>
            <a:pPr algn="ctr"/>
            <a:r>
              <a:rPr sz="700" b="1" i="0">
                <a:solidFill>
                  <a:srgbClr val="FFFFFF"/>
                </a:solidFill>
                <a:latin typeface="Calibri"/>
              </a:rPr>
              <a:t>Grand
Total</a:t>
            </a:r>
          </a:p>
        </p:txBody>
      </p:sp>
      <p:sp>
        <p:nvSpPr>
          <p:cNvPr id="19" name="Rectangle 18"/>
          <p:cNvSpPr/>
          <p:nvPr/>
        </p:nvSpPr>
        <p:spPr>
          <a:xfrm>
            <a:off x="274320"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075688"/>
            <a:ext cx="847344" cy="201168"/>
          </a:xfrm>
          <a:prstGeom prst="rect">
            <a:avLst/>
          </a:prstGeom>
          <a:noFill/>
        </p:spPr>
        <p:txBody>
          <a:bodyPr wrap="square">
            <a:spAutoFit/>
          </a:bodyPr>
          <a:lstStyle/>
          <a:p>
            <a:pPr algn="ctr"/>
            <a:r>
              <a:rPr sz="700" b="0" i="0">
                <a:solidFill>
                  <a:srgbClr val="1A1A1A"/>
                </a:solidFill>
                <a:latin typeface="Calibri"/>
              </a:rPr>
              <a:t>11/13/2025</a:t>
            </a:r>
          </a:p>
        </p:txBody>
      </p:sp>
      <p:sp>
        <p:nvSpPr>
          <p:cNvPr id="21" name="Rectangle 20"/>
          <p:cNvSpPr/>
          <p:nvPr/>
        </p:nvSpPr>
        <p:spPr>
          <a:xfrm>
            <a:off x="1158240"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6528" y="207568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23" name="Rectangle 22"/>
          <p:cNvSpPr/>
          <p:nvPr/>
        </p:nvSpPr>
        <p:spPr>
          <a:xfrm>
            <a:off x="2042160"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060448" y="207568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25" name="Rectangle 24"/>
          <p:cNvSpPr/>
          <p:nvPr/>
        </p:nvSpPr>
        <p:spPr>
          <a:xfrm>
            <a:off x="2926079"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44368" y="207568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27" name="Rectangle 26"/>
          <p:cNvSpPr/>
          <p:nvPr/>
        </p:nvSpPr>
        <p:spPr>
          <a:xfrm>
            <a:off x="3810000"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28288" y="207568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29" name="Rectangle 28"/>
          <p:cNvSpPr/>
          <p:nvPr/>
        </p:nvSpPr>
        <p:spPr>
          <a:xfrm>
            <a:off x="4693920" y="203911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12207" y="207568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31" name="Rectangle 30"/>
          <p:cNvSpPr/>
          <p:nvPr/>
        </p:nvSpPr>
        <p:spPr>
          <a:xfrm>
            <a:off x="274320"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 y="2331720"/>
            <a:ext cx="847344" cy="201168"/>
          </a:xfrm>
          <a:prstGeom prst="rect">
            <a:avLst/>
          </a:prstGeom>
          <a:noFill/>
        </p:spPr>
        <p:txBody>
          <a:bodyPr wrap="square">
            <a:spAutoFit/>
          </a:bodyPr>
          <a:lstStyle/>
          <a:p>
            <a:pPr algn="ctr"/>
            <a:r>
              <a:rPr sz="700" b="0" i="0">
                <a:solidFill>
                  <a:srgbClr val="1A1A1A"/>
                </a:solidFill>
                <a:latin typeface="Calibri"/>
              </a:rPr>
              <a:t>11/14/2025</a:t>
            </a:r>
          </a:p>
        </p:txBody>
      </p:sp>
      <p:sp>
        <p:nvSpPr>
          <p:cNvPr id="33" name="Rectangle 32"/>
          <p:cNvSpPr/>
          <p:nvPr/>
        </p:nvSpPr>
        <p:spPr>
          <a:xfrm>
            <a:off x="1158240"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76528" y="233172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35" name="Rectangle 34"/>
          <p:cNvSpPr/>
          <p:nvPr/>
        </p:nvSpPr>
        <p:spPr>
          <a:xfrm>
            <a:off x="2042160"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60448" y="233172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37" name="Rectangle 36"/>
          <p:cNvSpPr/>
          <p:nvPr/>
        </p:nvSpPr>
        <p:spPr>
          <a:xfrm>
            <a:off x="2926079"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44368" y="233172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39" name="Rectangle 38"/>
          <p:cNvSpPr/>
          <p:nvPr/>
        </p:nvSpPr>
        <p:spPr>
          <a:xfrm>
            <a:off x="3810000"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28288" y="233172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41" name="Rectangle 40"/>
          <p:cNvSpPr/>
          <p:nvPr/>
        </p:nvSpPr>
        <p:spPr>
          <a:xfrm>
            <a:off x="4693920" y="229514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12207" y="233172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43" name="Rectangle 42"/>
          <p:cNvSpPr/>
          <p:nvPr/>
        </p:nvSpPr>
        <p:spPr>
          <a:xfrm>
            <a:off x="274320"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2608" y="2587752"/>
            <a:ext cx="847344" cy="201168"/>
          </a:xfrm>
          <a:prstGeom prst="rect">
            <a:avLst/>
          </a:prstGeom>
          <a:noFill/>
        </p:spPr>
        <p:txBody>
          <a:bodyPr wrap="square">
            <a:spAutoFit/>
          </a:bodyPr>
          <a:lstStyle/>
          <a:p>
            <a:pPr algn="ctr"/>
            <a:r>
              <a:rPr sz="700" b="0" i="0">
                <a:solidFill>
                  <a:srgbClr val="1A1A1A"/>
                </a:solidFill>
                <a:latin typeface="Calibri"/>
              </a:rPr>
              <a:t>11/15/2025</a:t>
            </a:r>
          </a:p>
        </p:txBody>
      </p:sp>
      <p:sp>
        <p:nvSpPr>
          <p:cNvPr id="45" name="Rectangle 44"/>
          <p:cNvSpPr/>
          <p:nvPr/>
        </p:nvSpPr>
        <p:spPr>
          <a:xfrm>
            <a:off x="1158240"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6528" y="258775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47" name="Rectangle 46"/>
          <p:cNvSpPr/>
          <p:nvPr/>
        </p:nvSpPr>
        <p:spPr>
          <a:xfrm>
            <a:off x="2042160"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60448" y="258775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49" name="Rectangle 48"/>
          <p:cNvSpPr/>
          <p:nvPr/>
        </p:nvSpPr>
        <p:spPr>
          <a:xfrm>
            <a:off x="2926079"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44368" y="258775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51" name="Rectangle 50"/>
          <p:cNvSpPr/>
          <p:nvPr/>
        </p:nvSpPr>
        <p:spPr>
          <a:xfrm>
            <a:off x="3810000"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28288" y="258775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53" name="Rectangle 52"/>
          <p:cNvSpPr/>
          <p:nvPr/>
        </p:nvSpPr>
        <p:spPr>
          <a:xfrm>
            <a:off x="4693920" y="255117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12207" y="258775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55" name="Rectangle 54"/>
          <p:cNvSpPr/>
          <p:nvPr/>
        </p:nvSpPr>
        <p:spPr>
          <a:xfrm>
            <a:off x="274320"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 y="2843784"/>
            <a:ext cx="847344" cy="201168"/>
          </a:xfrm>
          <a:prstGeom prst="rect">
            <a:avLst/>
          </a:prstGeom>
          <a:noFill/>
        </p:spPr>
        <p:txBody>
          <a:bodyPr wrap="square">
            <a:spAutoFit/>
          </a:bodyPr>
          <a:lstStyle/>
          <a:p>
            <a:pPr algn="ctr"/>
            <a:r>
              <a:rPr sz="700" b="0" i="0">
                <a:solidFill>
                  <a:srgbClr val="1A1A1A"/>
                </a:solidFill>
                <a:latin typeface="Calibri"/>
              </a:rPr>
              <a:t>11/16/2025</a:t>
            </a:r>
          </a:p>
        </p:txBody>
      </p:sp>
      <p:sp>
        <p:nvSpPr>
          <p:cNvPr id="57" name="Rectangle 56"/>
          <p:cNvSpPr/>
          <p:nvPr/>
        </p:nvSpPr>
        <p:spPr>
          <a:xfrm>
            <a:off x="1158240"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76528" y="284378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59" name="Rectangle 58"/>
          <p:cNvSpPr/>
          <p:nvPr/>
        </p:nvSpPr>
        <p:spPr>
          <a:xfrm>
            <a:off x="2042160"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60448" y="284378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61" name="Rectangle 60"/>
          <p:cNvSpPr/>
          <p:nvPr/>
        </p:nvSpPr>
        <p:spPr>
          <a:xfrm>
            <a:off x="2926079"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944368" y="284378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63" name="Rectangle 62"/>
          <p:cNvSpPr/>
          <p:nvPr/>
        </p:nvSpPr>
        <p:spPr>
          <a:xfrm>
            <a:off x="3810000"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828288" y="284378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65" name="Rectangle 64"/>
          <p:cNvSpPr/>
          <p:nvPr/>
        </p:nvSpPr>
        <p:spPr>
          <a:xfrm>
            <a:off x="4693920" y="2807208"/>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712207" y="284378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67" name="Rectangle 66"/>
          <p:cNvSpPr/>
          <p:nvPr/>
        </p:nvSpPr>
        <p:spPr>
          <a:xfrm>
            <a:off x="274320"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92608" y="3099816"/>
            <a:ext cx="847344" cy="201168"/>
          </a:xfrm>
          <a:prstGeom prst="rect">
            <a:avLst/>
          </a:prstGeom>
          <a:noFill/>
        </p:spPr>
        <p:txBody>
          <a:bodyPr wrap="square">
            <a:spAutoFit/>
          </a:bodyPr>
          <a:lstStyle/>
          <a:p>
            <a:pPr algn="ctr"/>
            <a:r>
              <a:rPr sz="700" b="0" i="0">
                <a:solidFill>
                  <a:srgbClr val="1A1A1A"/>
                </a:solidFill>
                <a:latin typeface="Calibri"/>
              </a:rPr>
              <a:t>11/17/2025</a:t>
            </a:r>
          </a:p>
        </p:txBody>
      </p:sp>
      <p:sp>
        <p:nvSpPr>
          <p:cNvPr id="69" name="Rectangle 68"/>
          <p:cNvSpPr/>
          <p:nvPr/>
        </p:nvSpPr>
        <p:spPr>
          <a:xfrm>
            <a:off x="1158240"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76528" y="309981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71" name="Rectangle 70"/>
          <p:cNvSpPr/>
          <p:nvPr/>
        </p:nvSpPr>
        <p:spPr>
          <a:xfrm>
            <a:off x="2042160"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060448" y="309981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73" name="Rectangle 72"/>
          <p:cNvSpPr/>
          <p:nvPr/>
        </p:nvSpPr>
        <p:spPr>
          <a:xfrm>
            <a:off x="2926079"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944368" y="309981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75" name="Rectangle 74"/>
          <p:cNvSpPr/>
          <p:nvPr/>
        </p:nvSpPr>
        <p:spPr>
          <a:xfrm>
            <a:off x="3810000"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828288" y="309981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77" name="Rectangle 76"/>
          <p:cNvSpPr/>
          <p:nvPr/>
        </p:nvSpPr>
        <p:spPr>
          <a:xfrm>
            <a:off x="4693920" y="3063240"/>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712207" y="309981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79" name="Rectangle 78"/>
          <p:cNvSpPr/>
          <p:nvPr/>
        </p:nvSpPr>
        <p:spPr>
          <a:xfrm>
            <a:off x="274320"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92608" y="3355848"/>
            <a:ext cx="847344" cy="201168"/>
          </a:xfrm>
          <a:prstGeom prst="rect">
            <a:avLst/>
          </a:prstGeom>
          <a:noFill/>
        </p:spPr>
        <p:txBody>
          <a:bodyPr wrap="square">
            <a:spAutoFit/>
          </a:bodyPr>
          <a:lstStyle/>
          <a:p>
            <a:pPr algn="ctr"/>
            <a:r>
              <a:rPr sz="700" b="0" i="0">
                <a:solidFill>
                  <a:srgbClr val="1A1A1A"/>
                </a:solidFill>
                <a:latin typeface="Calibri"/>
              </a:rPr>
              <a:t>11/18/2025</a:t>
            </a:r>
          </a:p>
        </p:txBody>
      </p:sp>
      <p:sp>
        <p:nvSpPr>
          <p:cNvPr id="81" name="Rectangle 80"/>
          <p:cNvSpPr/>
          <p:nvPr/>
        </p:nvSpPr>
        <p:spPr>
          <a:xfrm>
            <a:off x="1158240"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176528" y="335584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83" name="Rectangle 82"/>
          <p:cNvSpPr/>
          <p:nvPr/>
        </p:nvSpPr>
        <p:spPr>
          <a:xfrm>
            <a:off x="2042160"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2060448" y="335584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85" name="Rectangle 84"/>
          <p:cNvSpPr/>
          <p:nvPr/>
        </p:nvSpPr>
        <p:spPr>
          <a:xfrm>
            <a:off x="2926079"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944368" y="335584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87" name="Rectangle 86"/>
          <p:cNvSpPr/>
          <p:nvPr/>
        </p:nvSpPr>
        <p:spPr>
          <a:xfrm>
            <a:off x="3810000"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28288" y="335584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89" name="Rectangle 88"/>
          <p:cNvSpPr/>
          <p:nvPr/>
        </p:nvSpPr>
        <p:spPr>
          <a:xfrm>
            <a:off x="4693920" y="3319272"/>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712207" y="335584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91" name="Rectangle 90"/>
          <p:cNvSpPr/>
          <p:nvPr/>
        </p:nvSpPr>
        <p:spPr>
          <a:xfrm>
            <a:off x="274320"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92608" y="3611880"/>
            <a:ext cx="847344" cy="201168"/>
          </a:xfrm>
          <a:prstGeom prst="rect">
            <a:avLst/>
          </a:prstGeom>
          <a:noFill/>
        </p:spPr>
        <p:txBody>
          <a:bodyPr wrap="square">
            <a:spAutoFit/>
          </a:bodyPr>
          <a:lstStyle/>
          <a:p>
            <a:pPr algn="ctr"/>
            <a:r>
              <a:rPr sz="700" b="0" i="0">
                <a:solidFill>
                  <a:srgbClr val="1A1A1A"/>
                </a:solidFill>
                <a:latin typeface="Calibri"/>
              </a:rPr>
              <a:t>11/19/2025</a:t>
            </a:r>
          </a:p>
        </p:txBody>
      </p:sp>
      <p:sp>
        <p:nvSpPr>
          <p:cNvPr id="93" name="Rectangle 92"/>
          <p:cNvSpPr/>
          <p:nvPr/>
        </p:nvSpPr>
        <p:spPr>
          <a:xfrm>
            <a:off x="1158240"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76528" y="361188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95" name="Rectangle 94"/>
          <p:cNvSpPr/>
          <p:nvPr/>
        </p:nvSpPr>
        <p:spPr>
          <a:xfrm>
            <a:off x="2042160"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060448" y="361188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97" name="Rectangle 96"/>
          <p:cNvSpPr/>
          <p:nvPr/>
        </p:nvSpPr>
        <p:spPr>
          <a:xfrm>
            <a:off x="2926079"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944368" y="361188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99" name="Rectangle 98"/>
          <p:cNvSpPr/>
          <p:nvPr/>
        </p:nvSpPr>
        <p:spPr>
          <a:xfrm>
            <a:off x="3810000"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828288" y="361188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01" name="Rectangle 100"/>
          <p:cNvSpPr/>
          <p:nvPr/>
        </p:nvSpPr>
        <p:spPr>
          <a:xfrm>
            <a:off x="4693920" y="3575304"/>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4712207" y="361188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03" name="Rectangle 102"/>
          <p:cNvSpPr/>
          <p:nvPr/>
        </p:nvSpPr>
        <p:spPr>
          <a:xfrm>
            <a:off x="274320"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292608" y="3867912"/>
            <a:ext cx="847344" cy="201168"/>
          </a:xfrm>
          <a:prstGeom prst="rect">
            <a:avLst/>
          </a:prstGeom>
          <a:noFill/>
        </p:spPr>
        <p:txBody>
          <a:bodyPr wrap="square">
            <a:spAutoFit/>
          </a:bodyPr>
          <a:lstStyle/>
          <a:p>
            <a:pPr algn="ctr"/>
            <a:r>
              <a:rPr sz="700" b="0" i="0">
                <a:solidFill>
                  <a:srgbClr val="1A1A1A"/>
                </a:solidFill>
                <a:latin typeface="Calibri"/>
              </a:rPr>
              <a:t>11/20/2025</a:t>
            </a:r>
          </a:p>
        </p:txBody>
      </p:sp>
      <p:sp>
        <p:nvSpPr>
          <p:cNvPr id="105" name="Rectangle 104"/>
          <p:cNvSpPr/>
          <p:nvPr/>
        </p:nvSpPr>
        <p:spPr>
          <a:xfrm>
            <a:off x="1158240"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176528" y="386791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07" name="Rectangle 106"/>
          <p:cNvSpPr/>
          <p:nvPr/>
        </p:nvSpPr>
        <p:spPr>
          <a:xfrm>
            <a:off x="2042160"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2060448" y="386791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09" name="Rectangle 108"/>
          <p:cNvSpPr/>
          <p:nvPr/>
        </p:nvSpPr>
        <p:spPr>
          <a:xfrm>
            <a:off x="2926079"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2944368" y="386791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11" name="Rectangle 110"/>
          <p:cNvSpPr/>
          <p:nvPr/>
        </p:nvSpPr>
        <p:spPr>
          <a:xfrm>
            <a:off x="3810000"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3828288" y="386791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13" name="Rectangle 112"/>
          <p:cNvSpPr/>
          <p:nvPr/>
        </p:nvSpPr>
        <p:spPr>
          <a:xfrm>
            <a:off x="4693920" y="3831336"/>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4712207" y="386791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15" name="Rectangle 114"/>
          <p:cNvSpPr/>
          <p:nvPr/>
        </p:nvSpPr>
        <p:spPr>
          <a:xfrm>
            <a:off x="274320"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292608" y="4123944"/>
            <a:ext cx="847344" cy="201168"/>
          </a:xfrm>
          <a:prstGeom prst="rect">
            <a:avLst/>
          </a:prstGeom>
          <a:noFill/>
        </p:spPr>
        <p:txBody>
          <a:bodyPr wrap="square">
            <a:spAutoFit/>
          </a:bodyPr>
          <a:lstStyle/>
          <a:p>
            <a:pPr algn="ctr"/>
            <a:r>
              <a:rPr sz="700" b="0" i="0">
                <a:solidFill>
                  <a:srgbClr val="1A1A1A"/>
                </a:solidFill>
                <a:latin typeface="Calibri"/>
              </a:rPr>
              <a:t>11/21/2025</a:t>
            </a:r>
          </a:p>
        </p:txBody>
      </p:sp>
      <p:sp>
        <p:nvSpPr>
          <p:cNvPr id="117" name="Rectangle 116"/>
          <p:cNvSpPr/>
          <p:nvPr/>
        </p:nvSpPr>
        <p:spPr>
          <a:xfrm>
            <a:off x="1158240"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176528" y="412394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19" name="Rectangle 118"/>
          <p:cNvSpPr/>
          <p:nvPr/>
        </p:nvSpPr>
        <p:spPr>
          <a:xfrm>
            <a:off x="2042160"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060448" y="412394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21" name="Rectangle 120"/>
          <p:cNvSpPr/>
          <p:nvPr/>
        </p:nvSpPr>
        <p:spPr>
          <a:xfrm>
            <a:off x="2926079"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2944368" y="412394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23" name="Rectangle 122"/>
          <p:cNvSpPr/>
          <p:nvPr/>
        </p:nvSpPr>
        <p:spPr>
          <a:xfrm>
            <a:off x="3810000"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828288" y="412394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25" name="Rectangle 124"/>
          <p:cNvSpPr/>
          <p:nvPr/>
        </p:nvSpPr>
        <p:spPr>
          <a:xfrm>
            <a:off x="4693920" y="4087368"/>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4712207" y="4123944"/>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27" name="Rectangle 126"/>
          <p:cNvSpPr/>
          <p:nvPr/>
        </p:nvSpPr>
        <p:spPr>
          <a:xfrm>
            <a:off x="274320"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292608" y="4379976"/>
            <a:ext cx="847344" cy="201168"/>
          </a:xfrm>
          <a:prstGeom prst="rect">
            <a:avLst/>
          </a:prstGeom>
          <a:noFill/>
        </p:spPr>
        <p:txBody>
          <a:bodyPr wrap="square">
            <a:spAutoFit/>
          </a:bodyPr>
          <a:lstStyle/>
          <a:p>
            <a:pPr algn="ctr"/>
            <a:r>
              <a:rPr sz="700" b="0" i="0">
                <a:solidFill>
                  <a:srgbClr val="1A1A1A"/>
                </a:solidFill>
                <a:latin typeface="Calibri"/>
              </a:rPr>
              <a:t>11/22/2025</a:t>
            </a:r>
          </a:p>
        </p:txBody>
      </p:sp>
      <p:sp>
        <p:nvSpPr>
          <p:cNvPr id="129" name="Rectangle 128"/>
          <p:cNvSpPr/>
          <p:nvPr/>
        </p:nvSpPr>
        <p:spPr>
          <a:xfrm>
            <a:off x="1158240"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176528" y="437997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31" name="Rectangle 130"/>
          <p:cNvSpPr/>
          <p:nvPr/>
        </p:nvSpPr>
        <p:spPr>
          <a:xfrm>
            <a:off x="2042160"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2060448" y="437997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33" name="Rectangle 132"/>
          <p:cNvSpPr/>
          <p:nvPr/>
        </p:nvSpPr>
        <p:spPr>
          <a:xfrm>
            <a:off x="2926079"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2944368" y="437997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35" name="Rectangle 134"/>
          <p:cNvSpPr/>
          <p:nvPr/>
        </p:nvSpPr>
        <p:spPr>
          <a:xfrm>
            <a:off x="3810000"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3828288" y="437997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37" name="Rectangle 136"/>
          <p:cNvSpPr/>
          <p:nvPr/>
        </p:nvSpPr>
        <p:spPr>
          <a:xfrm>
            <a:off x="4693920" y="4343400"/>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712207" y="4379976"/>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39" name="Rectangle 138"/>
          <p:cNvSpPr/>
          <p:nvPr/>
        </p:nvSpPr>
        <p:spPr>
          <a:xfrm>
            <a:off x="274320"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292608" y="4636008"/>
            <a:ext cx="847344" cy="201168"/>
          </a:xfrm>
          <a:prstGeom prst="rect">
            <a:avLst/>
          </a:prstGeom>
          <a:noFill/>
        </p:spPr>
        <p:txBody>
          <a:bodyPr wrap="square">
            <a:spAutoFit/>
          </a:bodyPr>
          <a:lstStyle/>
          <a:p>
            <a:pPr algn="ctr"/>
            <a:r>
              <a:rPr sz="700" b="0" i="0">
                <a:solidFill>
                  <a:srgbClr val="1A1A1A"/>
                </a:solidFill>
                <a:latin typeface="Calibri"/>
              </a:rPr>
              <a:t>11/23/2025</a:t>
            </a:r>
          </a:p>
        </p:txBody>
      </p:sp>
      <p:sp>
        <p:nvSpPr>
          <p:cNvPr id="141" name="Rectangle 140"/>
          <p:cNvSpPr/>
          <p:nvPr/>
        </p:nvSpPr>
        <p:spPr>
          <a:xfrm>
            <a:off x="1158240"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1176528" y="463600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43" name="Rectangle 142"/>
          <p:cNvSpPr/>
          <p:nvPr/>
        </p:nvSpPr>
        <p:spPr>
          <a:xfrm>
            <a:off x="2042160"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2060448" y="463600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45" name="Rectangle 144"/>
          <p:cNvSpPr/>
          <p:nvPr/>
        </p:nvSpPr>
        <p:spPr>
          <a:xfrm>
            <a:off x="2926079"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2944368" y="463600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47" name="Rectangle 146"/>
          <p:cNvSpPr/>
          <p:nvPr/>
        </p:nvSpPr>
        <p:spPr>
          <a:xfrm>
            <a:off x="3810000"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3828288" y="463600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49" name="Rectangle 148"/>
          <p:cNvSpPr/>
          <p:nvPr/>
        </p:nvSpPr>
        <p:spPr>
          <a:xfrm>
            <a:off x="4693920" y="4599432"/>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4712207" y="4636008"/>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51" name="Rectangle 150"/>
          <p:cNvSpPr/>
          <p:nvPr/>
        </p:nvSpPr>
        <p:spPr>
          <a:xfrm>
            <a:off x="274320"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292608" y="4892040"/>
            <a:ext cx="847344" cy="201168"/>
          </a:xfrm>
          <a:prstGeom prst="rect">
            <a:avLst/>
          </a:prstGeom>
          <a:noFill/>
        </p:spPr>
        <p:txBody>
          <a:bodyPr wrap="square">
            <a:spAutoFit/>
          </a:bodyPr>
          <a:lstStyle/>
          <a:p>
            <a:pPr algn="ctr"/>
            <a:r>
              <a:rPr sz="700" b="0" i="0">
                <a:solidFill>
                  <a:srgbClr val="1A1A1A"/>
                </a:solidFill>
                <a:latin typeface="Calibri"/>
              </a:rPr>
              <a:t>11/24/2025</a:t>
            </a:r>
          </a:p>
        </p:txBody>
      </p:sp>
      <p:sp>
        <p:nvSpPr>
          <p:cNvPr id="153" name="Rectangle 152"/>
          <p:cNvSpPr/>
          <p:nvPr/>
        </p:nvSpPr>
        <p:spPr>
          <a:xfrm>
            <a:off x="1158240"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Box 153"/>
          <p:cNvSpPr txBox="1"/>
          <p:nvPr/>
        </p:nvSpPr>
        <p:spPr>
          <a:xfrm>
            <a:off x="1176528" y="489204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55" name="Rectangle 154"/>
          <p:cNvSpPr/>
          <p:nvPr/>
        </p:nvSpPr>
        <p:spPr>
          <a:xfrm>
            <a:off x="2042160"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2060448" y="489204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57" name="Rectangle 156"/>
          <p:cNvSpPr/>
          <p:nvPr/>
        </p:nvSpPr>
        <p:spPr>
          <a:xfrm>
            <a:off x="2926079"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2944368" y="489204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59" name="Rectangle 158"/>
          <p:cNvSpPr/>
          <p:nvPr/>
        </p:nvSpPr>
        <p:spPr>
          <a:xfrm>
            <a:off x="3810000"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3828288" y="489204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61" name="Rectangle 160"/>
          <p:cNvSpPr/>
          <p:nvPr/>
        </p:nvSpPr>
        <p:spPr>
          <a:xfrm>
            <a:off x="4693920" y="4855464"/>
            <a:ext cx="883920" cy="256032"/>
          </a:xfrm>
          <a:prstGeom prst="rect">
            <a:avLst/>
          </a:prstGeom>
          <a:solidFill>
            <a:srgbClr val="F5F5F5"/>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4712207" y="4892040"/>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63" name="Rectangle 162"/>
          <p:cNvSpPr/>
          <p:nvPr/>
        </p:nvSpPr>
        <p:spPr>
          <a:xfrm>
            <a:off x="274320"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292608" y="5148072"/>
            <a:ext cx="847344" cy="201168"/>
          </a:xfrm>
          <a:prstGeom prst="rect">
            <a:avLst/>
          </a:prstGeom>
          <a:noFill/>
        </p:spPr>
        <p:txBody>
          <a:bodyPr wrap="square">
            <a:spAutoFit/>
          </a:bodyPr>
          <a:lstStyle/>
          <a:p>
            <a:pPr algn="ctr"/>
            <a:r>
              <a:rPr sz="700" b="0" i="0">
                <a:solidFill>
                  <a:srgbClr val="1A1A1A"/>
                </a:solidFill>
                <a:latin typeface="Calibri"/>
              </a:rPr>
              <a:t>11/25/2025</a:t>
            </a:r>
          </a:p>
        </p:txBody>
      </p:sp>
      <p:sp>
        <p:nvSpPr>
          <p:cNvPr id="165" name="Rectangle 164"/>
          <p:cNvSpPr/>
          <p:nvPr/>
        </p:nvSpPr>
        <p:spPr>
          <a:xfrm>
            <a:off x="1158240"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1176528" y="514807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67" name="Rectangle 166"/>
          <p:cNvSpPr/>
          <p:nvPr/>
        </p:nvSpPr>
        <p:spPr>
          <a:xfrm>
            <a:off x="2042160"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2060448" y="514807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69" name="Rectangle 168"/>
          <p:cNvSpPr/>
          <p:nvPr/>
        </p:nvSpPr>
        <p:spPr>
          <a:xfrm>
            <a:off x="2926079"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2944368" y="514807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71" name="Rectangle 170"/>
          <p:cNvSpPr/>
          <p:nvPr/>
        </p:nvSpPr>
        <p:spPr>
          <a:xfrm>
            <a:off x="3810000"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3828288" y="514807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73" name="Rectangle 172"/>
          <p:cNvSpPr/>
          <p:nvPr/>
        </p:nvSpPr>
        <p:spPr>
          <a:xfrm>
            <a:off x="4693920" y="5111496"/>
            <a:ext cx="883920" cy="256032"/>
          </a:xfrm>
          <a:prstGeom prst="rect">
            <a:avLst/>
          </a:prstGeom>
          <a:solidFill>
            <a:srgbClr val="FFFFFF"/>
          </a:solidFill>
          <a:ln w="254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4712207" y="5148072"/>
            <a:ext cx="847344" cy="201168"/>
          </a:xfrm>
          <a:prstGeom prst="rect">
            <a:avLst/>
          </a:prstGeom>
          <a:noFill/>
        </p:spPr>
        <p:txBody>
          <a:bodyPr wrap="square">
            <a:spAutoFit/>
          </a:bodyPr>
          <a:lstStyle/>
          <a:p>
            <a:pPr algn="ctr"/>
            <a:r>
              <a:rPr sz="700" b="0" i="0">
                <a:solidFill>
                  <a:srgbClr val="1A1A1A"/>
                </a:solidFill>
                <a:latin typeface="Calibri"/>
              </a:rPr>
              <a:t>xxx</a:t>
            </a:r>
          </a:p>
        </p:txBody>
      </p:sp>
      <p:sp>
        <p:nvSpPr>
          <p:cNvPr id="175" name="Rectangle 174"/>
          <p:cNvSpPr/>
          <p:nvPr/>
        </p:nvSpPr>
        <p:spPr>
          <a:xfrm>
            <a:off x="274320"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292608" y="5404104"/>
            <a:ext cx="847344" cy="201168"/>
          </a:xfrm>
          <a:prstGeom prst="rect">
            <a:avLst/>
          </a:prstGeom>
          <a:noFill/>
        </p:spPr>
        <p:txBody>
          <a:bodyPr wrap="square">
            <a:spAutoFit/>
          </a:bodyPr>
          <a:lstStyle/>
          <a:p>
            <a:pPr algn="ctr"/>
            <a:r>
              <a:rPr sz="700" b="1" i="0">
                <a:solidFill>
                  <a:srgbClr val="FFFFFF"/>
                </a:solidFill>
                <a:latin typeface="Calibri"/>
              </a:rPr>
              <a:t>Grand Total</a:t>
            </a:r>
          </a:p>
        </p:txBody>
      </p:sp>
      <p:sp>
        <p:nvSpPr>
          <p:cNvPr id="177" name="Rectangle 176"/>
          <p:cNvSpPr/>
          <p:nvPr/>
        </p:nvSpPr>
        <p:spPr>
          <a:xfrm>
            <a:off x="1158240"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1176528" y="5404104"/>
            <a:ext cx="847344" cy="201168"/>
          </a:xfrm>
          <a:prstGeom prst="rect">
            <a:avLst/>
          </a:prstGeom>
          <a:noFill/>
        </p:spPr>
        <p:txBody>
          <a:bodyPr wrap="square">
            <a:spAutoFit/>
          </a:bodyPr>
          <a:lstStyle/>
          <a:p>
            <a:pPr algn="ctr"/>
            <a:r>
              <a:rPr sz="700" b="1" i="0">
                <a:solidFill>
                  <a:srgbClr val="FFFFFF"/>
                </a:solidFill>
                <a:latin typeface="Calibri"/>
              </a:rPr>
              <a:t>xxx</a:t>
            </a:r>
          </a:p>
        </p:txBody>
      </p:sp>
      <p:sp>
        <p:nvSpPr>
          <p:cNvPr id="179" name="Rectangle 178"/>
          <p:cNvSpPr/>
          <p:nvPr/>
        </p:nvSpPr>
        <p:spPr>
          <a:xfrm>
            <a:off x="2042160"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2060448" y="5404104"/>
            <a:ext cx="847344" cy="201168"/>
          </a:xfrm>
          <a:prstGeom prst="rect">
            <a:avLst/>
          </a:prstGeom>
          <a:noFill/>
        </p:spPr>
        <p:txBody>
          <a:bodyPr wrap="square">
            <a:spAutoFit/>
          </a:bodyPr>
          <a:lstStyle/>
          <a:p>
            <a:pPr algn="ctr"/>
            <a:r>
              <a:rPr sz="700" b="1" i="0">
                <a:solidFill>
                  <a:srgbClr val="FFFFFF"/>
                </a:solidFill>
                <a:latin typeface="Calibri"/>
              </a:rPr>
              <a:t>xxx</a:t>
            </a:r>
          </a:p>
        </p:txBody>
      </p:sp>
      <p:sp>
        <p:nvSpPr>
          <p:cNvPr id="181" name="Rectangle 180"/>
          <p:cNvSpPr/>
          <p:nvPr/>
        </p:nvSpPr>
        <p:spPr>
          <a:xfrm>
            <a:off x="2926079"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2944368" y="5404104"/>
            <a:ext cx="847344" cy="201168"/>
          </a:xfrm>
          <a:prstGeom prst="rect">
            <a:avLst/>
          </a:prstGeom>
          <a:noFill/>
        </p:spPr>
        <p:txBody>
          <a:bodyPr wrap="square">
            <a:spAutoFit/>
          </a:bodyPr>
          <a:lstStyle/>
          <a:p>
            <a:pPr algn="ctr"/>
            <a:r>
              <a:rPr sz="700" b="1" i="0">
                <a:solidFill>
                  <a:srgbClr val="FFFFFF"/>
                </a:solidFill>
                <a:latin typeface="Calibri"/>
              </a:rPr>
              <a:t>xxx</a:t>
            </a:r>
          </a:p>
        </p:txBody>
      </p:sp>
      <p:sp>
        <p:nvSpPr>
          <p:cNvPr id="183" name="Rectangle 182"/>
          <p:cNvSpPr/>
          <p:nvPr/>
        </p:nvSpPr>
        <p:spPr>
          <a:xfrm>
            <a:off x="3810000"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3828288" y="5404104"/>
            <a:ext cx="847344" cy="201168"/>
          </a:xfrm>
          <a:prstGeom prst="rect">
            <a:avLst/>
          </a:prstGeom>
          <a:noFill/>
        </p:spPr>
        <p:txBody>
          <a:bodyPr wrap="square">
            <a:spAutoFit/>
          </a:bodyPr>
          <a:lstStyle/>
          <a:p>
            <a:pPr algn="ctr"/>
            <a:r>
              <a:rPr sz="700" b="1" i="0">
                <a:solidFill>
                  <a:srgbClr val="FFFFFF"/>
                </a:solidFill>
                <a:latin typeface="Calibri"/>
              </a:rPr>
              <a:t>xxx</a:t>
            </a:r>
          </a:p>
        </p:txBody>
      </p:sp>
      <p:sp>
        <p:nvSpPr>
          <p:cNvPr id="185" name="Rectangle 184"/>
          <p:cNvSpPr/>
          <p:nvPr/>
        </p:nvSpPr>
        <p:spPr>
          <a:xfrm>
            <a:off x="4693920" y="5367528"/>
            <a:ext cx="883920" cy="256032"/>
          </a:xfrm>
          <a:prstGeom prst="rect">
            <a:avLst/>
          </a:prstGeom>
          <a:solidFill>
            <a:srgbClr val="0D1B3E"/>
          </a:solidFill>
          <a:ln w="25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4712207" y="5404104"/>
            <a:ext cx="847344" cy="201168"/>
          </a:xfrm>
          <a:prstGeom prst="rect">
            <a:avLst/>
          </a:prstGeom>
          <a:noFill/>
        </p:spPr>
        <p:txBody>
          <a:bodyPr wrap="square">
            <a:spAutoFit/>
          </a:bodyPr>
          <a:lstStyle/>
          <a:p>
            <a:pPr algn="ctr"/>
            <a:r>
              <a:rPr sz="700" b="1" i="0">
                <a:solidFill>
                  <a:srgbClr val="FFFFFF"/>
                </a:solidFill>
                <a:latin typeface="Calibri"/>
              </a:rPr>
              <a:t>xxx</a:t>
            </a:r>
          </a:p>
        </p:txBody>
      </p:sp>
      <p:sp>
        <p:nvSpPr>
          <p:cNvPr id="187" name="TextBox 186"/>
          <p:cNvSpPr txBox="1"/>
          <p:nvPr/>
        </p:nvSpPr>
        <p:spPr>
          <a:xfrm>
            <a:off x="274320" y="5696712"/>
            <a:ext cx="5303520" cy="292608"/>
          </a:xfrm>
          <a:prstGeom prst="rect">
            <a:avLst/>
          </a:prstGeom>
          <a:noFill/>
        </p:spPr>
        <p:txBody>
          <a:bodyPr wrap="square">
            <a:spAutoFit/>
          </a:bodyPr>
          <a:lstStyle/>
          <a:p>
            <a:pPr algn="l"/>
            <a:r>
              <a:rPr sz="850" b="0" i="0">
                <a:solidFill>
                  <a:srgbClr val="1A1A1A"/>
                </a:solidFill>
                <a:latin typeface="Calibri"/>
              </a:rPr>
              <a:t>•  EDM was sent on 14 November. The sending started with ALIM.</a:t>
            </a:r>
          </a:p>
        </p:txBody>
      </p:sp>
      <p:sp>
        <p:nvSpPr>
          <p:cNvPr id="188" name="Rectangle 187"/>
          <p:cNvSpPr/>
          <p:nvPr/>
        </p:nvSpPr>
        <p:spPr>
          <a:xfrm>
            <a:off x="5577840" y="91440"/>
            <a:ext cx="6355080" cy="4389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5852159" y="411480"/>
            <a:ext cx="5760720" cy="2011680"/>
          </a:xfrm>
          <a:prstGeom prst="rect">
            <a:avLst/>
          </a:prstGeom>
          <a:noFill/>
        </p:spPr>
        <p:txBody>
          <a:bodyPr wrap="square">
            <a:spAutoFit/>
          </a:bodyPr>
          <a:lstStyle/>
          <a:p>
            <a:pPr algn="l"/>
            <a:r>
              <a:rPr sz="1300" b="1" i="0">
                <a:solidFill>
                  <a:srgbClr val="1A1A1A"/>
                </a:solidFill>
                <a:latin typeface="Calibri"/>
              </a:rPr>
              <a:t>Out of xxx participants,</a:t>
            </a:r>
          </a:p>
          <a:p>
            <a:pPr algn="l"/>
            <a:r>
              <a:rPr sz="500" b="0" i="0">
                <a:solidFill>
                  <a:srgbClr val="1A1A1A"/>
                </a:solidFill>
                <a:latin typeface="Calibri"/>
              </a:rPr>
              <a:t/>
            </a:r>
          </a:p>
          <a:p>
            <a:pPr algn="l"/>
            <a:r>
              <a:rPr sz="1100" b="0" i="0">
                <a:solidFill>
                  <a:srgbClr val="1A1A1A"/>
                </a:solidFill>
                <a:latin typeface="Calibri"/>
              </a:rPr>
              <a:t>❖  xxx are new (non-past winners)</a:t>
            </a:r>
          </a:p>
          <a:p>
            <a:pPr algn="l"/>
            <a:r>
              <a:rPr sz="500" b="0" i="0">
                <a:solidFill>
                  <a:srgbClr val="1A1A1A"/>
                </a:solidFill>
                <a:latin typeface="Calibri"/>
              </a:rPr>
              <a:t/>
            </a:r>
          </a:p>
          <a:p>
            <a:pPr algn="l"/>
            <a:r>
              <a:rPr sz="1100" b="0" i="0">
                <a:solidFill>
                  <a:srgbClr val="1A1A1A"/>
                </a:solidFill>
                <a:latin typeface="Calibri"/>
              </a:rPr>
              <a:t>❖  xxx are past winners</a:t>
            </a:r>
          </a:p>
        </p:txBody>
      </p:sp>
      <p:sp>
        <p:nvSpPr>
          <p:cNvPr id="190" name="TextBox 189"/>
          <p:cNvSpPr txBox="1"/>
          <p:nvPr/>
        </p:nvSpPr>
        <p:spPr>
          <a:xfrm>
            <a:off x="5852159" y="2651760"/>
            <a:ext cx="5760720" cy="914400"/>
          </a:xfrm>
          <a:prstGeom prst="rect">
            <a:avLst/>
          </a:prstGeom>
          <a:noFill/>
        </p:spPr>
        <p:txBody>
          <a:bodyPr wrap="square">
            <a:spAutoFit/>
          </a:bodyPr>
          <a:lstStyle/>
          <a:p>
            <a:pPr algn="l"/>
            <a:r>
              <a:rPr sz="900" b="1" i="0">
                <a:solidFill>
                  <a:srgbClr val="1A1A1A"/>
                </a:solidFill>
                <a:latin typeface="Calibri"/>
              </a:rPr>
              <a:t>Note:</a:t>
            </a:r>
          </a:p>
          <a:p>
            <a:pPr algn="l"/>
            <a:r>
              <a:rPr sz="900" b="0" i="1">
                <a:solidFill>
                  <a:srgbClr val="888888"/>
                </a:solidFill>
                <a:latin typeface="Calibri"/>
              </a:rPr>
              <a:t>Some customers may be counted across multiple segments due to cross-channel participation.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73152"/>
            <a:ext cx="5486400" cy="594360"/>
          </a:xfrm>
          <a:prstGeom prst="rect">
            <a:avLst/>
          </a:prstGeom>
          <a:noFill/>
        </p:spPr>
        <p:txBody>
          <a:bodyPr wrap="square">
            <a:spAutoFit/>
          </a:bodyPr>
          <a:lstStyle/>
          <a:p>
            <a:pPr algn="l"/>
            <a:r>
              <a:rPr sz="1100" b="0" i="0">
                <a:solidFill>
                  <a:srgbClr val="1A1A1A"/>
                </a:solidFill>
                <a:latin typeface="Calibri"/>
              </a:rPr>
              <a:t>How many past winners who joined Experience10@Badminton 2026</a:t>
            </a:r>
          </a:p>
        </p:txBody>
      </p:sp>
      <p:graphicFrame>
        <p:nvGraphicFramePr>
          <p:cNvPr id="4" name="Chart 3"/>
          <p:cNvGraphicFramePr>
            <a:graphicFrameLocks noGrp="1"/>
          </p:cNvGraphicFramePr>
          <p:nvPr/>
        </p:nvGraphicFramePr>
        <p:xfrm>
          <a:off x="182880" y="685800"/>
          <a:ext cx="5303520" cy="4114800"/>
        </p:xfrm>
        <a:graphic>
          <a:graphicData uri="http://schemas.openxmlformats.org/drawingml/2006/chart">
            <c:chart xmlns:c="http://schemas.openxmlformats.org/drawingml/2006/chart" r:id="rId2"/>
          </a:graphicData>
        </a:graphic>
      </p:graphicFrame>
      <p:sp>
        <p:nvSpPr>
          <p:cNvPr id="5" name="TextBox 4"/>
          <p:cNvSpPr txBox="1"/>
          <p:nvPr/>
        </p:nvSpPr>
        <p:spPr>
          <a:xfrm>
            <a:off x="2011680" y="868680"/>
            <a:ext cx="548640" cy="274320"/>
          </a:xfrm>
          <a:prstGeom prst="rect">
            <a:avLst/>
          </a:prstGeom>
          <a:noFill/>
        </p:spPr>
        <p:txBody>
          <a:bodyPr wrap="square">
            <a:spAutoFit/>
          </a:bodyPr>
          <a:lstStyle/>
          <a:p>
            <a:pPr algn="ctr"/>
            <a:r>
              <a:rPr sz="1100" b="1" i="0">
                <a:solidFill>
                  <a:srgbClr val="FFFFFF"/>
                </a:solidFill>
                <a:latin typeface="Calibri"/>
              </a:rPr>
              <a:t>xxx</a:t>
            </a:r>
          </a:p>
        </p:txBody>
      </p:sp>
      <p:sp>
        <p:nvSpPr>
          <p:cNvPr id="6" name="TextBox 5"/>
          <p:cNvSpPr txBox="1"/>
          <p:nvPr/>
        </p:nvSpPr>
        <p:spPr>
          <a:xfrm>
            <a:off x="4206240" y="1508760"/>
            <a:ext cx="548640" cy="274320"/>
          </a:xfrm>
          <a:prstGeom prst="rect">
            <a:avLst/>
          </a:prstGeom>
          <a:noFill/>
        </p:spPr>
        <p:txBody>
          <a:bodyPr wrap="square">
            <a:spAutoFit/>
          </a:bodyPr>
          <a:lstStyle/>
          <a:p>
            <a:pPr algn="ctr"/>
            <a:r>
              <a:rPr sz="1100" b="1" i="0">
                <a:solidFill>
                  <a:srgbClr val="FFFFFF"/>
                </a:solidFill>
                <a:latin typeface="Calibri"/>
              </a:rPr>
              <a:t>xxx</a:t>
            </a:r>
          </a:p>
        </p:txBody>
      </p:sp>
      <p:sp>
        <p:nvSpPr>
          <p:cNvPr id="7" name="TextBox 6"/>
          <p:cNvSpPr txBox="1"/>
          <p:nvPr/>
        </p:nvSpPr>
        <p:spPr>
          <a:xfrm>
            <a:off x="3474720" y="3520440"/>
            <a:ext cx="548640" cy="274320"/>
          </a:xfrm>
          <a:prstGeom prst="rect">
            <a:avLst/>
          </a:prstGeom>
          <a:noFill/>
        </p:spPr>
        <p:txBody>
          <a:bodyPr wrap="square">
            <a:spAutoFit/>
          </a:bodyPr>
          <a:lstStyle/>
          <a:p>
            <a:pPr algn="ctr"/>
            <a:r>
              <a:rPr sz="1100" b="1" i="0">
                <a:solidFill>
                  <a:srgbClr val="FFFFFF"/>
                </a:solidFill>
                <a:latin typeface="Calibri"/>
              </a:rPr>
              <a:t>xxx</a:t>
            </a:r>
          </a:p>
        </p:txBody>
      </p:sp>
      <p:sp>
        <p:nvSpPr>
          <p:cNvPr id="8" name="TextBox 7"/>
          <p:cNvSpPr txBox="1"/>
          <p:nvPr/>
        </p:nvSpPr>
        <p:spPr>
          <a:xfrm>
            <a:off x="731520" y="2194560"/>
            <a:ext cx="548640" cy="274320"/>
          </a:xfrm>
          <a:prstGeom prst="rect">
            <a:avLst/>
          </a:prstGeom>
          <a:noFill/>
        </p:spPr>
        <p:txBody>
          <a:bodyPr wrap="square">
            <a:spAutoFit/>
          </a:bodyPr>
          <a:lstStyle/>
          <a:p>
            <a:pPr algn="ctr"/>
            <a:r>
              <a:rPr sz="1100" b="1" i="0">
                <a:solidFill>
                  <a:srgbClr val="FFFFFF"/>
                </a:solidFill>
                <a:latin typeface="Calibri"/>
              </a:rPr>
              <a:t>xxx</a:t>
            </a:r>
          </a:p>
        </p:txBody>
      </p:sp>
      <p:sp>
        <p:nvSpPr>
          <p:cNvPr id="9" name="Rectangle 8"/>
          <p:cNvSpPr/>
          <p:nvPr/>
        </p:nvSpPr>
        <p:spPr>
          <a:xfrm>
            <a:off x="182880" y="5084064"/>
            <a:ext cx="182880" cy="164592"/>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5029200"/>
            <a:ext cx="2468880" cy="274320"/>
          </a:xfrm>
          <a:prstGeom prst="rect">
            <a:avLst/>
          </a:prstGeom>
          <a:noFill/>
        </p:spPr>
        <p:txBody>
          <a:bodyPr wrap="square">
            <a:spAutoFit/>
          </a:bodyPr>
          <a:lstStyle/>
          <a:p>
            <a:pPr algn="l"/>
            <a:r>
              <a:rPr sz="750" b="0" i="0">
                <a:solidFill>
                  <a:srgbClr val="1A1A1A"/>
                </a:solidFill>
                <a:latin typeface="Calibri"/>
              </a:rPr>
              <a:t>Experience10@Badminton 2025</a:t>
            </a:r>
          </a:p>
        </p:txBody>
      </p:sp>
      <p:sp>
        <p:nvSpPr>
          <p:cNvPr id="11" name="Rectangle 10"/>
          <p:cNvSpPr/>
          <p:nvPr/>
        </p:nvSpPr>
        <p:spPr>
          <a:xfrm>
            <a:off x="2926080" y="5084064"/>
            <a:ext cx="182880" cy="164592"/>
          </a:xfrm>
          <a:prstGeom prst="rect">
            <a:avLst/>
          </a:prstGeom>
          <a:solidFill>
            <a:srgbClr val="2E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5029200"/>
            <a:ext cx="2468880" cy="274320"/>
          </a:xfrm>
          <a:prstGeom prst="rect">
            <a:avLst/>
          </a:prstGeom>
          <a:noFill/>
        </p:spPr>
        <p:txBody>
          <a:bodyPr wrap="square">
            <a:spAutoFit/>
          </a:bodyPr>
          <a:lstStyle/>
          <a:p>
            <a:pPr algn="l"/>
            <a:r>
              <a:rPr sz="750" b="0" i="0">
                <a:solidFill>
                  <a:srgbClr val="1A1A1A"/>
                </a:solidFill>
                <a:latin typeface="Calibri"/>
              </a:rPr>
              <a:t>Experience10@Meet The Star</a:t>
            </a:r>
          </a:p>
        </p:txBody>
      </p:sp>
      <p:sp>
        <p:nvSpPr>
          <p:cNvPr id="13" name="Rectangle 12"/>
          <p:cNvSpPr/>
          <p:nvPr/>
        </p:nvSpPr>
        <p:spPr>
          <a:xfrm>
            <a:off x="182880" y="5376672"/>
            <a:ext cx="182880" cy="164592"/>
          </a:xfrm>
          <a:prstGeom prst="rect">
            <a:avLst/>
          </a:prstGeom>
          <a:solidFill>
            <a:srgbClr val="4A7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5321808"/>
            <a:ext cx="2468880" cy="274320"/>
          </a:xfrm>
          <a:prstGeom prst="rect">
            <a:avLst/>
          </a:prstGeom>
          <a:noFill/>
        </p:spPr>
        <p:txBody>
          <a:bodyPr wrap="square">
            <a:spAutoFit/>
          </a:bodyPr>
          <a:lstStyle/>
          <a:p>
            <a:pPr algn="l"/>
            <a:r>
              <a:rPr sz="750" b="0" i="0">
                <a:solidFill>
                  <a:srgbClr val="1A1A1A"/>
                </a:solidFill>
                <a:latin typeface="Calibri"/>
              </a:rPr>
              <a:t>Experience10@Celebrate Together</a:t>
            </a:r>
          </a:p>
        </p:txBody>
      </p:sp>
      <p:sp>
        <p:nvSpPr>
          <p:cNvPr id="15" name="Rectangle 14"/>
          <p:cNvSpPr/>
          <p:nvPr/>
        </p:nvSpPr>
        <p:spPr>
          <a:xfrm>
            <a:off x="2926080" y="5376672"/>
            <a:ext cx="182880" cy="164592"/>
          </a:xfrm>
          <a:prstGeom prst="rect">
            <a:avLst/>
          </a:prstGeom>
          <a:solidFill>
            <a:srgbClr val="1B35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54680" y="5321808"/>
            <a:ext cx="2468880" cy="274320"/>
          </a:xfrm>
          <a:prstGeom prst="rect">
            <a:avLst/>
          </a:prstGeom>
          <a:noFill/>
        </p:spPr>
        <p:txBody>
          <a:bodyPr wrap="square">
            <a:spAutoFit/>
          </a:bodyPr>
          <a:lstStyle/>
          <a:p>
            <a:pPr algn="l"/>
            <a:r>
              <a:rPr sz="750" b="0" i="0">
                <a:solidFill>
                  <a:srgbClr val="1A1A1A"/>
                </a:solidFill>
                <a:latin typeface="Calibri"/>
              </a:rPr>
              <a:t>Together We Celebrate Malaysia</a:t>
            </a:r>
          </a:p>
        </p:txBody>
      </p:sp>
      <p:sp>
        <p:nvSpPr>
          <p:cNvPr id="17" name="TextBox 16"/>
          <p:cNvSpPr txBox="1"/>
          <p:nvPr/>
        </p:nvSpPr>
        <p:spPr>
          <a:xfrm>
            <a:off x="6035040" y="73152"/>
            <a:ext cx="5852160" cy="594360"/>
          </a:xfrm>
          <a:prstGeom prst="rect">
            <a:avLst/>
          </a:prstGeom>
          <a:noFill/>
        </p:spPr>
        <p:txBody>
          <a:bodyPr wrap="square">
            <a:spAutoFit/>
          </a:bodyPr>
          <a:lstStyle/>
          <a:p>
            <a:pPr algn="l"/>
            <a:r>
              <a:rPr sz="1100" b="0" i="0">
                <a:solidFill>
                  <a:srgbClr val="1A1A1A"/>
                </a:solidFill>
                <a:latin typeface="Calibri"/>
              </a:rPr>
              <a:t>Category when past winners joined in 2026</a:t>
            </a:r>
          </a:p>
        </p:txBody>
      </p:sp>
      <p:graphicFrame>
        <p:nvGraphicFramePr>
          <p:cNvPr id="18" name="Chart 17"/>
          <p:cNvGraphicFramePr>
            <a:graphicFrameLocks noGrp="1"/>
          </p:cNvGraphicFramePr>
          <p:nvPr/>
        </p:nvGraphicFramePr>
        <p:xfrm>
          <a:off x="5943600" y="685800"/>
          <a:ext cx="6035040" cy="5029200"/>
        </p:xfrm>
        <a:graphic>
          <a:graphicData uri="http://schemas.openxmlformats.org/drawingml/2006/chart">
            <c:chart xmlns:c="http://schemas.openxmlformats.org/drawingml/2006/chart" r:id="rId3"/>
          </a:graphicData>
        </a:graphic>
      </p:graphicFrame>
      <p:sp>
        <p:nvSpPr>
          <p:cNvPr id="19" name="TextBox 18"/>
          <p:cNvSpPr txBox="1"/>
          <p:nvPr/>
        </p:nvSpPr>
        <p:spPr>
          <a:xfrm>
            <a:off x="6583680" y="1371600"/>
            <a:ext cx="502920" cy="274320"/>
          </a:xfrm>
          <a:prstGeom prst="rect">
            <a:avLst/>
          </a:prstGeom>
          <a:noFill/>
        </p:spPr>
        <p:txBody>
          <a:bodyPr wrap="square">
            <a:spAutoFit/>
          </a:bodyPr>
          <a:lstStyle/>
          <a:p>
            <a:pPr algn="ctr"/>
            <a:r>
              <a:rPr sz="1000" b="1" i="0">
                <a:solidFill>
                  <a:srgbClr val="1B357E"/>
                </a:solidFill>
                <a:latin typeface="Calibri"/>
              </a:rPr>
              <a:t>xxx</a:t>
            </a:r>
          </a:p>
        </p:txBody>
      </p:sp>
      <p:sp>
        <p:nvSpPr>
          <p:cNvPr id="20" name="TextBox 19"/>
          <p:cNvSpPr txBox="1"/>
          <p:nvPr/>
        </p:nvSpPr>
        <p:spPr>
          <a:xfrm>
            <a:off x="7498079" y="2194560"/>
            <a:ext cx="502920" cy="274320"/>
          </a:xfrm>
          <a:prstGeom prst="rect">
            <a:avLst/>
          </a:prstGeom>
          <a:noFill/>
        </p:spPr>
        <p:txBody>
          <a:bodyPr wrap="square">
            <a:spAutoFit/>
          </a:bodyPr>
          <a:lstStyle/>
          <a:p>
            <a:pPr algn="ctr"/>
            <a:r>
              <a:rPr sz="1000" b="1" i="0">
                <a:solidFill>
                  <a:srgbClr val="1B357E"/>
                </a:solidFill>
                <a:latin typeface="Calibri"/>
              </a:rPr>
              <a:t>xxx</a:t>
            </a:r>
          </a:p>
        </p:txBody>
      </p:sp>
      <p:sp>
        <p:nvSpPr>
          <p:cNvPr id="21" name="TextBox 20"/>
          <p:cNvSpPr txBox="1"/>
          <p:nvPr/>
        </p:nvSpPr>
        <p:spPr>
          <a:xfrm>
            <a:off x="8412480" y="1005840"/>
            <a:ext cx="502920" cy="274320"/>
          </a:xfrm>
          <a:prstGeom prst="rect">
            <a:avLst/>
          </a:prstGeom>
          <a:noFill/>
        </p:spPr>
        <p:txBody>
          <a:bodyPr wrap="square">
            <a:spAutoFit/>
          </a:bodyPr>
          <a:lstStyle/>
          <a:p>
            <a:pPr algn="ctr"/>
            <a:r>
              <a:rPr sz="1000" b="1" i="0">
                <a:solidFill>
                  <a:srgbClr val="1B357E"/>
                </a:solidFill>
                <a:latin typeface="Calibri"/>
              </a:rPr>
              <a:t>xxx</a:t>
            </a:r>
          </a:p>
        </p:txBody>
      </p:sp>
      <p:sp>
        <p:nvSpPr>
          <p:cNvPr id="22" name="TextBox 21"/>
          <p:cNvSpPr txBox="1"/>
          <p:nvPr/>
        </p:nvSpPr>
        <p:spPr>
          <a:xfrm>
            <a:off x="9326880" y="3474720"/>
            <a:ext cx="502920" cy="274320"/>
          </a:xfrm>
          <a:prstGeom prst="rect">
            <a:avLst/>
          </a:prstGeom>
          <a:noFill/>
        </p:spPr>
        <p:txBody>
          <a:bodyPr wrap="square">
            <a:spAutoFit/>
          </a:bodyPr>
          <a:lstStyle/>
          <a:p>
            <a:pPr algn="ctr"/>
            <a:r>
              <a:rPr sz="1000" b="1" i="0">
                <a:solidFill>
                  <a:srgbClr val="1B357E"/>
                </a:solidFill>
                <a:latin typeface="Calibri"/>
              </a:rPr>
              <a:t>xxx</a:t>
            </a:r>
          </a:p>
        </p:txBody>
      </p:sp>
      <p:sp>
        <p:nvSpPr>
          <p:cNvPr id="23" name="TextBox 22"/>
          <p:cNvSpPr txBox="1"/>
          <p:nvPr/>
        </p:nvSpPr>
        <p:spPr>
          <a:xfrm>
            <a:off x="10241280" y="3337560"/>
            <a:ext cx="502920" cy="274320"/>
          </a:xfrm>
          <a:prstGeom prst="rect">
            <a:avLst/>
          </a:prstGeom>
          <a:noFill/>
        </p:spPr>
        <p:txBody>
          <a:bodyPr wrap="square">
            <a:spAutoFit/>
          </a:bodyPr>
          <a:lstStyle/>
          <a:p>
            <a:pPr algn="ctr"/>
            <a:r>
              <a:rPr sz="1000" b="1" i="0">
                <a:solidFill>
                  <a:srgbClr val="1B357E"/>
                </a:solidFill>
                <a:latin typeface="Calibri"/>
              </a:rPr>
              <a:t>xxx</a:t>
            </a:r>
          </a:p>
        </p:txBody>
      </p:sp>
      <p:sp>
        <p:nvSpPr>
          <p:cNvPr id="24" name="TextBox 23"/>
          <p:cNvSpPr txBox="1"/>
          <p:nvPr/>
        </p:nvSpPr>
        <p:spPr>
          <a:xfrm>
            <a:off x="6035040" y="5669280"/>
            <a:ext cx="1005840" cy="640080"/>
          </a:xfrm>
          <a:prstGeom prst="rect">
            <a:avLst/>
          </a:prstGeom>
          <a:noFill/>
        </p:spPr>
        <p:txBody>
          <a:bodyPr wrap="square">
            <a:spAutoFit/>
          </a:bodyPr>
          <a:lstStyle/>
          <a:p>
            <a:pPr algn="ctr"/>
            <a:r>
              <a:rPr sz="650" b="0" i="0">
                <a:solidFill>
                  <a:srgbClr val="1A1A1A"/>
                </a:solidFill>
                <a:latin typeface="Calibri"/>
              </a:rPr>
              <a:t>Experience10
@Badminton
2025</a:t>
            </a:r>
          </a:p>
        </p:txBody>
      </p:sp>
      <p:sp>
        <p:nvSpPr>
          <p:cNvPr id="25" name="TextBox 24"/>
          <p:cNvSpPr txBox="1"/>
          <p:nvPr/>
        </p:nvSpPr>
        <p:spPr>
          <a:xfrm>
            <a:off x="7132320" y="5669280"/>
            <a:ext cx="1005840" cy="640080"/>
          </a:xfrm>
          <a:prstGeom prst="rect">
            <a:avLst/>
          </a:prstGeom>
          <a:noFill/>
        </p:spPr>
        <p:txBody>
          <a:bodyPr wrap="square">
            <a:spAutoFit/>
          </a:bodyPr>
          <a:lstStyle/>
          <a:p>
            <a:pPr algn="ctr"/>
            <a:r>
              <a:rPr sz="650" b="0" i="0">
                <a:solidFill>
                  <a:srgbClr val="1A1A1A"/>
                </a:solidFill>
                <a:latin typeface="Calibri"/>
              </a:rPr>
              <a:t>Experience10
@Meet The
Star</a:t>
            </a:r>
          </a:p>
        </p:txBody>
      </p:sp>
      <p:sp>
        <p:nvSpPr>
          <p:cNvPr id="26" name="TextBox 25"/>
          <p:cNvSpPr txBox="1"/>
          <p:nvPr/>
        </p:nvSpPr>
        <p:spPr>
          <a:xfrm>
            <a:off x="8229600" y="5669280"/>
            <a:ext cx="1005840" cy="640080"/>
          </a:xfrm>
          <a:prstGeom prst="rect">
            <a:avLst/>
          </a:prstGeom>
          <a:noFill/>
        </p:spPr>
        <p:txBody>
          <a:bodyPr wrap="square">
            <a:spAutoFit/>
          </a:bodyPr>
          <a:lstStyle/>
          <a:p>
            <a:pPr algn="ctr"/>
            <a:r>
              <a:rPr sz="650" b="0" i="0">
                <a:solidFill>
                  <a:srgbClr val="1A1A1A"/>
                </a:solidFill>
                <a:latin typeface="Calibri"/>
              </a:rPr>
              <a:t>Experience10
@Celebrate
Together</a:t>
            </a:r>
          </a:p>
        </p:txBody>
      </p:sp>
      <p:sp>
        <p:nvSpPr>
          <p:cNvPr id="27" name="TextBox 26"/>
          <p:cNvSpPr txBox="1"/>
          <p:nvPr/>
        </p:nvSpPr>
        <p:spPr>
          <a:xfrm>
            <a:off x="9326880" y="5669280"/>
            <a:ext cx="1005840" cy="640080"/>
          </a:xfrm>
          <a:prstGeom prst="rect">
            <a:avLst/>
          </a:prstGeom>
          <a:noFill/>
        </p:spPr>
        <p:txBody>
          <a:bodyPr wrap="square">
            <a:spAutoFit/>
          </a:bodyPr>
          <a:lstStyle/>
          <a:p>
            <a:pPr algn="ctr"/>
            <a:r>
              <a:rPr sz="650" b="0" i="0">
                <a:solidFill>
                  <a:srgbClr val="1A1A1A"/>
                </a:solidFill>
                <a:latin typeface="Calibri"/>
              </a:rPr>
              <a:t>Together We
Celebrate
Malaysia</a:t>
            </a:r>
          </a:p>
        </p:txBody>
      </p:sp>
      <p:sp>
        <p:nvSpPr>
          <p:cNvPr id="28" name="TextBox 27"/>
          <p:cNvSpPr txBox="1"/>
          <p:nvPr/>
        </p:nvSpPr>
        <p:spPr>
          <a:xfrm>
            <a:off x="10424159" y="5669280"/>
            <a:ext cx="1005840" cy="640080"/>
          </a:xfrm>
          <a:prstGeom prst="rect">
            <a:avLst/>
          </a:prstGeom>
          <a:noFill/>
        </p:spPr>
        <p:txBody>
          <a:bodyPr wrap="square">
            <a:spAutoFit/>
          </a:bodyPr>
          <a:lstStyle/>
          <a:p>
            <a:pPr algn="ctr"/>
            <a:r>
              <a:rPr sz="650" b="0" i="0">
                <a:solidFill>
                  <a:srgbClr val="1A1A1A"/>
                </a:solidFill>
                <a:latin typeface="Calibri"/>
              </a:rPr>
              <a:t>xxx Category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
            <a:ext cx="7863840" cy="4114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
            <a:ext cx="2011680" cy="411480"/>
          </a:xfrm>
          <a:prstGeom prst="rect">
            <a:avLst/>
          </a:prstGeom>
          <a:noFill/>
        </p:spPr>
        <p:txBody>
          <a:bodyPr wrap="square">
            <a:spAutoFit/>
          </a:bodyPr>
          <a:lstStyle/>
          <a:p>
            <a:pPr algn="l"/>
            <a:r>
              <a:rPr sz="750" b="0" i="0">
                <a:solidFill>
                  <a:srgbClr val="1A1A1A"/>
                </a:solidFill>
                <a:latin typeface="Calibri"/>
              </a:rPr>
              <a:t>Agency
Circular</a:t>
            </a:r>
          </a:p>
        </p:txBody>
      </p:sp>
      <p:sp>
        <p:nvSpPr>
          <p:cNvPr id="5" name="TextBox 4"/>
          <p:cNvSpPr txBox="1"/>
          <p:nvPr/>
        </p:nvSpPr>
        <p:spPr>
          <a:xfrm>
            <a:off x="2560320" y="64008"/>
            <a:ext cx="2011680" cy="411480"/>
          </a:xfrm>
          <a:prstGeom prst="rect">
            <a:avLst/>
          </a:prstGeom>
          <a:noFill/>
        </p:spPr>
        <p:txBody>
          <a:bodyPr wrap="square">
            <a:spAutoFit/>
          </a:bodyPr>
          <a:lstStyle/>
          <a:p>
            <a:pPr algn="l"/>
            <a:r>
              <a:rPr sz="750" b="0" i="0">
                <a:solidFill>
                  <a:srgbClr val="1A1A1A"/>
                </a:solidFill>
                <a:latin typeface="Calibri"/>
              </a:rPr>
              <a:t>xxx Campaign
(xxx audience)</a:t>
            </a:r>
          </a:p>
        </p:txBody>
      </p:sp>
      <p:sp>
        <p:nvSpPr>
          <p:cNvPr id="6" name="TextBox 5"/>
          <p:cNvSpPr txBox="1"/>
          <p:nvPr/>
        </p:nvSpPr>
        <p:spPr>
          <a:xfrm>
            <a:off x="4572000" y="64008"/>
            <a:ext cx="2011680" cy="411480"/>
          </a:xfrm>
          <a:prstGeom prst="rect">
            <a:avLst/>
          </a:prstGeom>
          <a:noFill/>
        </p:spPr>
        <p:txBody>
          <a:bodyPr wrap="square">
            <a:spAutoFit/>
          </a:bodyPr>
          <a:lstStyle/>
          <a:p>
            <a:pPr algn="l"/>
            <a:r>
              <a:rPr sz="750" b="0" i="0">
                <a:solidFill>
                  <a:srgbClr val="1A1A1A"/>
                </a:solidFill>
                <a:latin typeface="Calibri"/>
              </a:rPr>
              <a:t>EDM Blast</a:t>
            </a:r>
          </a:p>
        </p:txBody>
      </p:sp>
      <p:sp>
        <p:nvSpPr>
          <p:cNvPr id="7" name="TextBox 6"/>
          <p:cNvSpPr txBox="1"/>
          <p:nvPr/>
        </p:nvSpPr>
        <p:spPr>
          <a:xfrm>
            <a:off x="6492240" y="64008"/>
            <a:ext cx="2011680" cy="411480"/>
          </a:xfrm>
          <a:prstGeom prst="rect">
            <a:avLst/>
          </a:prstGeom>
          <a:noFill/>
        </p:spPr>
        <p:txBody>
          <a:bodyPr wrap="square">
            <a:spAutoFit/>
          </a:bodyPr>
          <a:lstStyle/>
          <a:p>
            <a:pPr algn="l"/>
            <a:r>
              <a:rPr sz="750" b="0" i="0">
                <a:solidFill>
                  <a:srgbClr val="1A1A1A"/>
                </a:solidFill>
                <a:latin typeface="Calibri"/>
              </a:rPr>
              <a:t>SMS Blast</a:t>
            </a:r>
          </a:p>
        </p:txBody>
      </p:sp>
      <p:sp>
        <p:nvSpPr>
          <p:cNvPr id="8" name="Rectangle 7"/>
          <p:cNvSpPr/>
          <p:nvPr/>
        </p:nvSpPr>
        <p:spPr>
          <a:xfrm>
            <a:off x="45720" y="100584"/>
            <a:ext cx="1371600" cy="301752"/>
          </a:xfrm>
          <a:prstGeom prst="rect">
            <a:avLst/>
          </a:prstGeom>
          <a:solidFill>
            <a:srgbClr val="2D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51760" y="100584"/>
            <a:ext cx="1371600" cy="301752"/>
          </a:xfrm>
          <a:prstGeom prst="rect">
            <a:avLst/>
          </a:prstGeom>
          <a:solidFill>
            <a:srgbClr val="2D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91440" y="502920"/>
          <a:ext cx="7772400" cy="5943600"/>
        </p:xfrm>
        <a:graphic>
          <a:graphicData uri="http://schemas.openxmlformats.org/drawingml/2006/chart">
            <c:chart xmlns:c="http://schemas.openxmlformats.org/drawingml/2006/chart" r:id="rId2"/>
          </a:graphicData>
        </a:graphic>
      </p:graphicFrame>
      <p:sp>
        <p:nvSpPr>
          <p:cNvPr id="11" name="TextBox 10"/>
          <p:cNvSpPr txBox="1"/>
          <p:nvPr/>
        </p:nvSpPr>
        <p:spPr>
          <a:xfrm>
            <a:off x="91440" y="6492240"/>
            <a:ext cx="7772400" cy="274320"/>
          </a:xfrm>
          <a:prstGeom prst="rect">
            <a:avLst/>
          </a:prstGeom>
          <a:noFill/>
        </p:spPr>
        <p:txBody>
          <a:bodyPr wrap="square">
            <a:spAutoFit/>
          </a:bodyPr>
          <a:lstStyle/>
          <a:p>
            <a:pPr algn="l"/>
            <a:r>
              <a:rPr sz="700" b="0" i="1">
                <a:solidFill>
                  <a:srgbClr val="888888"/>
                </a:solidFill>
                <a:latin typeface="Calibri"/>
              </a:rPr>
              <a:t>(Edit: change 'Daily Participants' series chart type to Line in PowerPoint)</a:t>
            </a:r>
          </a:p>
        </p:txBody>
      </p:sp>
      <p:sp>
        <p:nvSpPr>
          <p:cNvPr id="12" name="Rectangle 11"/>
          <p:cNvSpPr/>
          <p:nvPr/>
        </p:nvSpPr>
        <p:spPr>
          <a:xfrm>
            <a:off x="1545336" y="502920"/>
            <a:ext cx="18288" cy="585216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82696" y="502920"/>
            <a:ext cx="18288" cy="585216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94376" y="502920"/>
            <a:ext cx="18288" cy="585216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48856" y="502920"/>
            <a:ext cx="18288" cy="585216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0"/>
            <a:ext cx="4142231"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83880" y="137160"/>
            <a:ext cx="3867911" cy="1417320"/>
          </a:xfrm>
          <a:prstGeom prst="rect">
            <a:avLst/>
          </a:prstGeom>
          <a:solidFill>
            <a:srgbClr val="0A12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274320"/>
            <a:ext cx="3813047" cy="1143000"/>
          </a:xfrm>
          <a:prstGeom prst="rect">
            <a:avLst/>
          </a:prstGeom>
          <a:noFill/>
        </p:spPr>
        <p:txBody>
          <a:bodyPr wrap="square">
            <a:spAutoFit/>
          </a:bodyPr>
          <a:lstStyle/>
          <a:p>
            <a:pPr algn="ctr"/>
            <a:r>
              <a:rPr sz="1000" b="1" i="0">
                <a:solidFill>
                  <a:srgbClr val="2E788A"/>
                </a:solidFill>
                <a:latin typeface="Calibri"/>
              </a:rPr>
              <a:t>Total participants</a:t>
            </a:r>
          </a:p>
          <a:p>
            <a:pPr algn="ctr"/>
            <a:r>
              <a:rPr sz="3400" b="1" i="0">
                <a:solidFill>
                  <a:srgbClr val="FFFFFF"/>
                </a:solidFill>
                <a:latin typeface="Calibri"/>
              </a:rPr>
              <a:t>xxx</a:t>
            </a:r>
          </a:p>
        </p:txBody>
      </p:sp>
      <p:sp>
        <p:nvSpPr>
          <p:cNvPr id="19" name="TextBox 18"/>
          <p:cNvSpPr txBox="1"/>
          <p:nvPr/>
        </p:nvSpPr>
        <p:spPr>
          <a:xfrm>
            <a:off x="8211312" y="1691640"/>
            <a:ext cx="3867911" cy="320040"/>
          </a:xfrm>
          <a:prstGeom prst="rect">
            <a:avLst/>
          </a:prstGeom>
          <a:noFill/>
        </p:spPr>
        <p:txBody>
          <a:bodyPr wrap="square">
            <a:spAutoFit/>
          </a:bodyPr>
          <a:lstStyle/>
          <a:p>
            <a:pPr algn="l"/>
            <a:r>
              <a:rPr sz="1100" b="1" i="0">
                <a:solidFill>
                  <a:srgbClr val="FFFFFF"/>
                </a:solidFill>
                <a:latin typeface="Calibri"/>
              </a:rPr>
              <a:t>Overall engagement rate</a:t>
            </a:r>
          </a:p>
        </p:txBody>
      </p:sp>
      <p:sp>
        <p:nvSpPr>
          <p:cNvPr id="20" name="Rectangle 19"/>
          <p:cNvSpPr/>
          <p:nvPr/>
        </p:nvSpPr>
        <p:spPr>
          <a:xfrm>
            <a:off x="8046720" y="2148840"/>
            <a:ext cx="45720" cy="1188720"/>
          </a:xfrm>
          <a:prstGeom prst="rect">
            <a:avLst/>
          </a:prstGeom>
          <a:solidFill>
            <a:srgbClr val="2D8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6448" y="2212848"/>
            <a:ext cx="457200" cy="411480"/>
          </a:xfrm>
          <a:prstGeom prst="rect">
            <a:avLst/>
          </a:prstGeom>
          <a:noFill/>
        </p:spPr>
        <p:txBody>
          <a:bodyPr wrap="square">
            <a:spAutoFit/>
          </a:bodyPr>
          <a:lstStyle/>
          <a:p>
            <a:pPr algn="l"/>
            <a:r>
              <a:rPr sz="1800" b="0" i="0">
                <a:solidFill>
                  <a:srgbClr val="2D8048"/>
                </a:solidFill>
                <a:latin typeface="Calibri"/>
              </a:rPr>
              <a:t>💬</a:t>
            </a:r>
          </a:p>
        </p:txBody>
      </p:sp>
      <p:sp>
        <p:nvSpPr>
          <p:cNvPr id="22" name="TextBox 21"/>
          <p:cNvSpPr txBox="1"/>
          <p:nvPr/>
        </p:nvSpPr>
        <p:spPr>
          <a:xfrm>
            <a:off x="8641080" y="2240280"/>
            <a:ext cx="3410711" cy="274320"/>
          </a:xfrm>
          <a:prstGeom prst="rect">
            <a:avLst/>
          </a:prstGeom>
          <a:noFill/>
        </p:spPr>
        <p:txBody>
          <a:bodyPr wrap="square">
            <a:spAutoFit/>
          </a:bodyPr>
          <a:lstStyle/>
          <a:p>
            <a:pPr algn="l"/>
            <a:r>
              <a:rPr sz="950" b="1" i="0">
                <a:solidFill>
                  <a:srgbClr val="FFFFFF"/>
                </a:solidFill>
                <a:latin typeface="Calibri"/>
              </a:rPr>
              <a:t>WhatsApp</a:t>
            </a:r>
          </a:p>
        </p:txBody>
      </p:sp>
      <p:sp>
        <p:nvSpPr>
          <p:cNvPr id="23" name="TextBox 22"/>
          <p:cNvSpPr txBox="1"/>
          <p:nvPr/>
        </p:nvSpPr>
        <p:spPr>
          <a:xfrm>
            <a:off x="8641080" y="2532888"/>
            <a:ext cx="3410711" cy="274320"/>
          </a:xfrm>
          <a:prstGeom prst="rect">
            <a:avLst/>
          </a:prstGeom>
          <a:noFill/>
        </p:spPr>
        <p:txBody>
          <a:bodyPr wrap="square">
            <a:spAutoFit/>
          </a:bodyPr>
          <a:lstStyle/>
          <a:p>
            <a:pPr algn="l"/>
            <a:r>
              <a:rPr sz="950" b="0" i="0">
                <a:solidFill>
                  <a:srgbClr val="F0F0F0"/>
                </a:solidFill>
                <a:latin typeface="Calibri"/>
              </a:rPr>
              <a:t>xxx% read</a:t>
            </a:r>
          </a:p>
        </p:txBody>
      </p:sp>
      <p:sp>
        <p:nvSpPr>
          <p:cNvPr id="24" name="TextBox 23"/>
          <p:cNvSpPr txBox="1"/>
          <p:nvPr/>
        </p:nvSpPr>
        <p:spPr>
          <a:xfrm>
            <a:off x="8641080" y="2807208"/>
            <a:ext cx="3410711" cy="274320"/>
          </a:xfrm>
          <a:prstGeom prst="rect">
            <a:avLst/>
          </a:prstGeom>
          <a:noFill/>
        </p:spPr>
        <p:txBody>
          <a:bodyPr wrap="square">
            <a:spAutoFit/>
          </a:bodyPr>
          <a:lstStyle/>
          <a:p>
            <a:pPr algn="l"/>
            <a:r>
              <a:rPr sz="950" b="0" i="0">
                <a:solidFill>
                  <a:srgbClr val="F0F0F0"/>
                </a:solidFill>
                <a:latin typeface="Calibri"/>
              </a:rPr>
              <a:t>Note: xxx% failed</a:t>
            </a:r>
          </a:p>
        </p:txBody>
      </p:sp>
      <p:sp>
        <p:nvSpPr>
          <p:cNvPr id="25" name="Rectangle 24"/>
          <p:cNvSpPr/>
          <p:nvPr/>
        </p:nvSpPr>
        <p:spPr>
          <a:xfrm>
            <a:off x="8046720" y="3520440"/>
            <a:ext cx="45720" cy="1188720"/>
          </a:xfrm>
          <a:prstGeom prst="rect">
            <a:avLst/>
          </a:prstGeom>
          <a:solidFill>
            <a:srgbClr val="187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56448" y="3584448"/>
            <a:ext cx="457200" cy="411480"/>
          </a:xfrm>
          <a:prstGeom prst="rect">
            <a:avLst/>
          </a:prstGeom>
          <a:noFill/>
        </p:spPr>
        <p:txBody>
          <a:bodyPr wrap="square">
            <a:spAutoFit/>
          </a:bodyPr>
          <a:lstStyle/>
          <a:p>
            <a:pPr algn="l"/>
            <a:r>
              <a:rPr sz="1800" b="0" i="0">
                <a:solidFill>
                  <a:srgbClr val="1877F2"/>
                </a:solidFill>
                <a:latin typeface="Calibri"/>
              </a:rPr>
              <a:t>f ⃝</a:t>
            </a:r>
          </a:p>
        </p:txBody>
      </p:sp>
      <p:sp>
        <p:nvSpPr>
          <p:cNvPr id="27" name="TextBox 26"/>
          <p:cNvSpPr txBox="1"/>
          <p:nvPr/>
        </p:nvSpPr>
        <p:spPr>
          <a:xfrm>
            <a:off x="8641080" y="3611880"/>
            <a:ext cx="3410711" cy="274320"/>
          </a:xfrm>
          <a:prstGeom prst="rect">
            <a:avLst/>
          </a:prstGeom>
          <a:noFill/>
        </p:spPr>
        <p:txBody>
          <a:bodyPr wrap="square">
            <a:spAutoFit/>
          </a:bodyPr>
          <a:lstStyle/>
          <a:p>
            <a:pPr algn="l"/>
            <a:r>
              <a:rPr sz="950" b="1" i="0">
                <a:solidFill>
                  <a:srgbClr val="FFFFFF"/>
                </a:solidFill>
                <a:latin typeface="Calibri"/>
              </a:rPr>
              <a:t>Facebook / Instagram</a:t>
            </a:r>
          </a:p>
        </p:txBody>
      </p:sp>
      <p:sp>
        <p:nvSpPr>
          <p:cNvPr id="28" name="TextBox 27"/>
          <p:cNvSpPr txBox="1"/>
          <p:nvPr/>
        </p:nvSpPr>
        <p:spPr>
          <a:xfrm>
            <a:off x="8641080" y="3904488"/>
            <a:ext cx="3410711" cy="274320"/>
          </a:xfrm>
          <a:prstGeom prst="rect">
            <a:avLst/>
          </a:prstGeom>
          <a:noFill/>
        </p:spPr>
        <p:txBody>
          <a:bodyPr wrap="square">
            <a:spAutoFit/>
          </a:bodyPr>
          <a:lstStyle/>
          <a:p>
            <a:pPr algn="l"/>
            <a:r>
              <a:rPr sz="950" b="0" i="0">
                <a:solidFill>
                  <a:srgbClr val="F0F0F0"/>
                </a:solidFill>
                <a:latin typeface="Calibri"/>
              </a:rPr>
              <a:t>CTR is xxx%</a:t>
            </a:r>
          </a:p>
        </p:txBody>
      </p:sp>
      <p:sp>
        <p:nvSpPr>
          <p:cNvPr id="29" name="TextBox 28"/>
          <p:cNvSpPr txBox="1"/>
          <p:nvPr/>
        </p:nvSpPr>
        <p:spPr>
          <a:xfrm>
            <a:off x="8641080" y="4178808"/>
            <a:ext cx="3410711" cy="274320"/>
          </a:xfrm>
          <a:prstGeom prst="rect">
            <a:avLst/>
          </a:prstGeom>
          <a:noFill/>
        </p:spPr>
        <p:txBody>
          <a:bodyPr wrap="square">
            <a:spAutoFit/>
          </a:bodyPr>
          <a:lstStyle/>
          <a:p>
            <a:pPr algn="l"/>
            <a:r>
              <a:rPr sz="950" b="0" i="0">
                <a:solidFill>
                  <a:srgbClr val="F0F0F0"/>
                </a:solidFill>
                <a:latin typeface="Calibri"/>
              </a:rPr>
              <a:t>with xxx clicks</a:t>
            </a:r>
          </a:p>
        </p:txBody>
      </p:sp>
      <p:sp>
        <p:nvSpPr>
          <p:cNvPr id="30" name="Rectangle 29"/>
          <p:cNvSpPr/>
          <p:nvPr/>
        </p:nvSpPr>
        <p:spPr>
          <a:xfrm>
            <a:off x="8046720" y="4892040"/>
            <a:ext cx="45720" cy="1188720"/>
          </a:xfrm>
          <a:prstGeom prst="rect">
            <a:avLst/>
          </a:prstGeom>
          <a:solidFill>
            <a:srgbClr val="2E7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6448" y="4956048"/>
            <a:ext cx="457200" cy="411480"/>
          </a:xfrm>
          <a:prstGeom prst="rect">
            <a:avLst/>
          </a:prstGeom>
          <a:noFill/>
        </p:spPr>
        <p:txBody>
          <a:bodyPr wrap="square">
            <a:spAutoFit/>
          </a:bodyPr>
          <a:lstStyle/>
          <a:p>
            <a:pPr algn="l"/>
            <a:r>
              <a:rPr sz="1800" b="0" i="0">
                <a:solidFill>
                  <a:srgbClr val="2E788A"/>
                </a:solidFill>
                <a:latin typeface="Calibri"/>
              </a:rPr>
              <a:t>✉</a:t>
            </a:r>
          </a:p>
        </p:txBody>
      </p:sp>
      <p:sp>
        <p:nvSpPr>
          <p:cNvPr id="32" name="TextBox 31"/>
          <p:cNvSpPr txBox="1"/>
          <p:nvPr/>
        </p:nvSpPr>
        <p:spPr>
          <a:xfrm>
            <a:off x="8641080" y="4983479"/>
            <a:ext cx="3410711" cy="274320"/>
          </a:xfrm>
          <a:prstGeom prst="rect">
            <a:avLst/>
          </a:prstGeom>
          <a:noFill/>
        </p:spPr>
        <p:txBody>
          <a:bodyPr wrap="square">
            <a:spAutoFit/>
          </a:bodyPr>
          <a:lstStyle/>
          <a:p>
            <a:pPr algn="l"/>
            <a:r>
              <a:rPr sz="950" b="1" i="0">
                <a:solidFill>
                  <a:srgbClr val="FFFFFF"/>
                </a:solidFill>
                <a:latin typeface="Calibri"/>
              </a:rPr>
              <a:t>Email</a:t>
            </a:r>
          </a:p>
        </p:txBody>
      </p:sp>
      <p:sp>
        <p:nvSpPr>
          <p:cNvPr id="33" name="TextBox 32"/>
          <p:cNvSpPr txBox="1"/>
          <p:nvPr/>
        </p:nvSpPr>
        <p:spPr>
          <a:xfrm>
            <a:off x="8641080" y="5276088"/>
            <a:ext cx="3410711" cy="274320"/>
          </a:xfrm>
          <a:prstGeom prst="rect">
            <a:avLst/>
          </a:prstGeom>
          <a:noFill/>
        </p:spPr>
        <p:txBody>
          <a:bodyPr wrap="square">
            <a:spAutoFit/>
          </a:bodyPr>
          <a:lstStyle/>
          <a:p>
            <a:pPr algn="l"/>
            <a:r>
              <a:rPr sz="950" b="0" i="0">
                <a:solidFill>
                  <a:srgbClr val="F0F0F0"/>
                </a:solidFill>
                <a:latin typeface="Calibri"/>
              </a:rPr>
              <a:t>Open: xxx%</a:t>
            </a:r>
          </a:p>
        </p:txBody>
      </p:sp>
      <p:sp>
        <p:nvSpPr>
          <p:cNvPr id="34" name="TextBox 33"/>
          <p:cNvSpPr txBox="1"/>
          <p:nvPr/>
        </p:nvSpPr>
        <p:spPr>
          <a:xfrm>
            <a:off x="8641080" y="5550407"/>
            <a:ext cx="3410711" cy="274320"/>
          </a:xfrm>
          <a:prstGeom prst="rect">
            <a:avLst/>
          </a:prstGeom>
          <a:noFill/>
        </p:spPr>
        <p:txBody>
          <a:bodyPr wrap="square">
            <a:spAutoFit/>
          </a:bodyPr>
          <a:lstStyle/>
          <a:p>
            <a:pPr algn="l"/>
            <a:r>
              <a:rPr sz="950" b="0" i="0">
                <a:solidFill>
                  <a:srgbClr val="F0F0F0"/>
                </a:solidFill>
                <a:latin typeface="Calibri"/>
              </a:rPr>
              <a:t>Click: xxx%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